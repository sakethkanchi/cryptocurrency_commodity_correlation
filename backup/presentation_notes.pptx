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5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8" r:id="rId27"/>
    <p:sldId id="286" r:id="rId28"/>
    <p:sldId id="287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200" d="100"/>
          <a:sy n="200" d="100"/>
        </p:scale>
        <p:origin x="654" y="1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7289A-3381-4DAD-A0D0-5038EA10A2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B65E9-BAAC-4813-A93B-CE179BCB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Cryptocurrencies have evolved dramatically over the past decade. They've moved </a:t>
            </a:r>
          </a:p>
          <a:p>
            <a:r>
              <a:rPr lang="en-US" dirty="0"/>
              <a:t>from niche speculative instruments to macro-relevant financial assets with </a:t>
            </a:r>
          </a:p>
          <a:p>
            <a:r>
              <a:rPr lang="en-US" dirty="0"/>
              <a:t>significant institutional adoption. Understanding their relationship with </a:t>
            </a:r>
          </a:p>
          <a:p>
            <a:r>
              <a:rPr lang="en-US" dirty="0"/>
              <a:t>traditional commodities is crucial for portfolio diversification strategies, </a:t>
            </a:r>
          </a:p>
          <a:p>
            <a:r>
              <a:rPr lang="en-US" dirty="0"/>
              <a:t>risk management decisions, and market regime identification. This research has </a:t>
            </a:r>
          </a:p>
          <a:p>
            <a:r>
              <a:rPr lang="en-US" dirty="0"/>
              <a:t>real-world applications beyond just academic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4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to focus on gold and oil for specific reasons. Gold has historically </a:t>
            </a:r>
          </a:p>
          <a:p>
            <a:r>
              <a:rPr lang="en-US" dirty="0"/>
              <a:t>acted as a hedge against inflation and a store of value during market </a:t>
            </a:r>
          </a:p>
          <a:p>
            <a:r>
              <a:rPr lang="en-US" dirty="0"/>
              <a:t>uncertainty. Oil reflects real economic activity and demand cycles. Both are </a:t>
            </a:r>
          </a:p>
          <a:p>
            <a:r>
              <a:rPr lang="en-US" dirty="0"/>
              <a:t>traditional commodities with well-understood market behaviors.</a:t>
            </a:r>
          </a:p>
          <a:p>
            <a:endParaRPr lang="en-US" dirty="0"/>
          </a:p>
          <a:p>
            <a:r>
              <a:rPr lang="en-US" dirty="0"/>
              <a:t>Our core research question is: Can cryptocurrency-commodity correlations act as </a:t>
            </a:r>
          </a:p>
          <a:p>
            <a:r>
              <a:rPr lang="en-US" dirty="0"/>
              <a:t>market regime indicators? When correlations rise, markets may perceive crypto as </a:t>
            </a:r>
          </a:p>
          <a:p>
            <a:r>
              <a:rPr lang="en-US" dirty="0"/>
              <a:t>a traditional risk asset. When correlations weaken, it could indicate </a:t>
            </a:r>
          </a:p>
          <a:p>
            <a:r>
              <a:rPr lang="en-US" dirty="0"/>
              <a:t>diversification benefits or independent valuation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9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analysis covers January 2020 to September 2024. This time period is </a:t>
            </a:r>
          </a:p>
          <a:p>
            <a:r>
              <a:rPr lang="en-US" dirty="0"/>
              <a:t>particularly valuable because it captures multiple market regimes, which provide </a:t>
            </a:r>
          </a:p>
          <a:p>
            <a:r>
              <a:rPr lang="en-US" dirty="0"/>
              <a:t>natural experiments to study these relationships. We observe the COVID-19 crisis </a:t>
            </a:r>
          </a:p>
          <a:p>
            <a:r>
              <a:rPr lang="en-US" dirty="0"/>
              <a:t>in March 2020, which caused massive market disruption. We see the bull markets </a:t>
            </a:r>
          </a:p>
          <a:p>
            <a:r>
              <a:rPr lang="en-US" dirty="0"/>
              <a:t>of 2021, when crypto reached all-time highs. We capture the 2022 crypto winter, </a:t>
            </a:r>
          </a:p>
          <a:p>
            <a:r>
              <a:rPr lang="en-US" dirty="0"/>
              <a:t>with major drawdowns and the FTX collapse. We include the Federal Reserve </a:t>
            </a:r>
          </a:p>
          <a:p>
            <a:r>
              <a:rPr lang="en-US" dirty="0"/>
              <a:t>tightening cycle, with significant monetary policy changes. And we observe the </a:t>
            </a:r>
          </a:p>
          <a:p>
            <a:r>
              <a:rPr lang="en-US" dirty="0"/>
              <a:t>2023 banking turmoil, including the SVB and Credit Suisse crises. These events </a:t>
            </a:r>
          </a:p>
          <a:p>
            <a:r>
              <a:rPr lang="en-US" dirty="0"/>
              <a:t>allow us to study how correlations behave under very different market conditions.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1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analysis is guided by four key research questions. Research Question 1 asks: </a:t>
            </a:r>
          </a:p>
          <a:p>
            <a:r>
              <a:rPr lang="en-US" dirty="0"/>
              <a:t>How do correlations between cryptocurrencies - specifically Bitcoin and Ethereum </a:t>
            </a:r>
          </a:p>
          <a:p>
            <a:r>
              <a:rPr lang="en-US" dirty="0"/>
              <a:t>- and commodities - gold and crude oil - vary across different market regimes? </a:t>
            </a:r>
          </a:p>
          <a:p>
            <a:r>
              <a:rPr lang="en-US" dirty="0"/>
              <a:t>This focuses on crisis periods versus normal market conditions, and it's our </a:t>
            </a:r>
          </a:p>
          <a:p>
            <a:r>
              <a:rPr lang="en-US" dirty="0"/>
              <a:t>core question: are correlations static or dynamic?</a:t>
            </a:r>
          </a:p>
          <a:p>
            <a:endParaRPr lang="en-US" dirty="0"/>
          </a:p>
          <a:p>
            <a:r>
              <a:rPr lang="en-US" dirty="0"/>
              <a:t>Research Question 2 asks: Can changes in cryptocurrency-commodity correlations </a:t>
            </a:r>
          </a:p>
          <a:p>
            <a:r>
              <a:rPr lang="en-US" dirty="0"/>
              <a:t>serve as indicators of market stress and regime shifts? This addresses the </a:t>
            </a:r>
          </a:p>
          <a:p>
            <a:r>
              <a:rPr lang="en-US" dirty="0"/>
              <a:t>practical application of our work.</a:t>
            </a:r>
          </a:p>
          <a:p>
            <a:endParaRPr lang="en-US" dirty="0"/>
          </a:p>
          <a:p>
            <a:r>
              <a:rPr lang="en-US" dirty="0"/>
              <a:t>Research Question 3 asks: Do Bitcoin and Ethereum exhibit different correlation </a:t>
            </a:r>
          </a:p>
          <a:p>
            <a:r>
              <a:rPr lang="en-US" dirty="0"/>
              <a:t>patterns with gold and oil? This is important for understanding whether </a:t>
            </a:r>
          </a:p>
          <a:p>
            <a:r>
              <a:rPr lang="en-US" dirty="0"/>
              <a:t>different cryptocurrencies behave differently as an asset class.</a:t>
            </a:r>
          </a:p>
          <a:p>
            <a:endParaRPr lang="en-US" dirty="0"/>
          </a:p>
          <a:p>
            <a:r>
              <a:rPr lang="en-US" dirty="0"/>
              <a:t>Research Question 4 asks: What correlation thresholds signal transitions between </a:t>
            </a:r>
          </a:p>
          <a:p>
            <a:r>
              <a:rPr lang="en-US" dirty="0"/>
              <a:t>risk-on and risk-off regimes? This will be addressed more in our future work, </a:t>
            </a:r>
          </a:p>
          <a:p>
            <a:r>
              <a:rPr lang="en-US" dirty="0"/>
              <a:t>but we have preliminary findings. These questions structure our entire </a:t>
            </a:r>
          </a:p>
          <a:p>
            <a:r>
              <a:rPr lang="en-US" dirty="0"/>
              <a:t>presentation, and Research Questions 1 and 2 are the main focus of our current </a:t>
            </a:r>
          </a:p>
          <a:p>
            <a:r>
              <a:rPr lang="en-US" dirty="0"/>
              <a:t>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08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walk you through our data collection and preprocessing approach. We </a:t>
            </a:r>
          </a:p>
          <a:p>
            <a:r>
              <a:rPr lang="en-US" dirty="0"/>
              <a:t>retrieved all data from the Yahoo Finance API, which provides reliable </a:t>
            </a:r>
          </a:p>
          <a:p>
            <a:r>
              <a:rPr lang="en-US" dirty="0"/>
              <a:t>historical price data. Our time period spans January 1, 2020 to September 30, </a:t>
            </a:r>
          </a:p>
          <a:p>
            <a:r>
              <a:rPr lang="en-US" dirty="0"/>
              <a:t>2024, giving us approximately 1,200 daily observations per asset.</a:t>
            </a:r>
          </a:p>
          <a:p>
            <a:endParaRPr lang="en-US" dirty="0"/>
          </a:p>
          <a:p>
            <a:r>
              <a:rPr lang="en-US" dirty="0"/>
              <a:t>We analyzed four assets. Bitcoin, ticker BTC-USD, is the largest cryptocurrency </a:t>
            </a:r>
          </a:p>
          <a:p>
            <a:r>
              <a:rPr lang="en-US" dirty="0"/>
              <a:t>by market cap and is often called "digital gold." Ethereum, ticker ETH-USD, is </a:t>
            </a:r>
          </a:p>
          <a:p>
            <a:r>
              <a:rPr lang="en-US" dirty="0"/>
              <a:t>the second-largest cryptocurrency and has different use cases as a smart </a:t>
            </a:r>
          </a:p>
          <a:p>
            <a:r>
              <a:rPr lang="en-US" dirty="0"/>
              <a:t>contract platform. Gold Futures, ticker GC equals F, represents the traditional </a:t>
            </a:r>
          </a:p>
          <a:p>
            <a:r>
              <a:rPr lang="en-US" dirty="0"/>
              <a:t>safe-haven asset and serves as a hedge against inflation. Crude Oil Futures, </a:t>
            </a:r>
          </a:p>
          <a:p>
            <a:r>
              <a:rPr lang="en-US" dirty="0"/>
              <a:t>ticker CL equals F, represents WTI crude oil and reflects economic activity and </a:t>
            </a:r>
          </a:p>
          <a:p>
            <a:r>
              <a:rPr lang="en-US" dirty="0"/>
              <a:t>demand cycles.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36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raw data, we created several derived features. We use log returns, </a:t>
            </a:r>
          </a:p>
          <a:p>
            <a:r>
              <a:rPr lang="en-US" dirty="0"/>
              <a:t>which are calculated as the natural log of price today divided by price </a:t>
            </a:r>
          </a:p>
          <a:p>
            <a:r>
              <a:rPr lang="en-US" dirty="0"/>
              <a:t>yesterday. We use log returns instead of simple returns because they ensure </a:t>
            </a:r>
          </a:p>
          <a:p>
            <a:r>
              <a:rPr lang="en-US" dirty="0"/>
              <a:t>stationarity, which is required for reliable correlation analysis. Log returns </a:t>
            </a:r>
          </a:p>
          <a:p>
            <a:r>
              <a:rPr lang="en-US" dirty="0"/>
              <a:t>are approximately equal to simple returns for small changes.</a:t>
            </a:r>
          </a:p>
          <a:p>
            <a:endParaRPr lang="en-US" dirty="0"/>
          </a:p>
          <a:p>
            <a:r>
              <a:rPr lang="en-US" dirty="0"/>
              <a:t>We calculate rolling correlations using a 90-day window, which is our primary </a:t>
            </a:r>
          </a:p>
          <a:p>
            <a:r>
              <a:rPr lang="en-US" dirty="0"/>
              <a:t>measure. This window balances statistical stability with responsiveness to </a:t>
            </a:r>
          </a:p>
          <a:p>
            <a:r>
              <a:rPr lang="en-US" dirty="0"/>
              <a:t>regime changes. We also calculate rolling volatility using a 30-day rolling </a:t>
            </a:r>
          </a:p>
          <a:p>
            <a:r>
              <a:rPr lang="en-US" dirty="0"/>
              <a:t>standard deviation of returns, which helps us understand risk over time. </a:t>
            </a:r>
          </a:p>
          <a:p>
            <a:r>
              <a:rPr lang="en-US" dirty="0"/>
              <a:t>Finally, we normalize prices to a base of 100 at the start date, which allows </a:t>
            </a:r>
          </a:p>
          <a:p>
            <a:r>
              <a:rPr lang="en-US" dirty="0"/>
              <a:t>us to compare price evolution across assets with very different starting prices.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4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encountered several preprocessing challenges that required careful handling. </a:t>
            </a:r>
          </a:p>
          <a:p>
            <a:r>
              <a:rPr lang="en-US" dirty="0"/>
              <a:t>First, trading calendar alignment was a key technical challenge. </a:t>
            </a:r>
          </a:p>
          <a:p>
            <a:r>
              <a:rPr lang="en-US" dirty="0"/>
              <a:t>Cryptocurrencies trade 24/7, while commodities trade only on weekdays. We </a:t>
            </a:r>
          </a:p>
          <a:p>
            <a:r>
              <a:rPr lang="en-US" dirty="0"/>
              <a:t>addressed this by forward-filling weekend values for commodities, assuming the </a:t>
            </a:r>
          </a:p>
          <a:p>
            <a:r>
              <a:rPr lang="en-US" dirty="0"/>
              <a:t>Friday price holds over the weekend, which is standard practice.</a:t>
            </a:r>
          </a:p>
          <a:p>
            <a:endParaRPr lang="en-US" dirty="0"/>
          </a:p>
          <a:p>
            <a:r>
              <a:rPr lang="en-US" dirty="0"/>
              <a:t>Second, we handled missing data that may occur due to market holidays or data </a:t>
            </a:r>
          </a:p>
          <a:p>
            <a:r>
              <a:rPr lang="en-US" dirty="0"/>
              <a:t>feed issues by implementing forward-fill methods. Third, we use adjusted closing </a:t>
            </a:r>
          </a:p>
          <a:p>
            <a:r>
              <a:rPr lang="en-US" dirty="0"/>
              <a:t>prices, which account for splits, dividends, and other corporate actions. </a:t>
            </a:r>
          </a:p>
          <a:p>
            <a:r>
              <a:rPr lang="en-US" dirty="0"/>
              <a:t>Fourth, calculating log returns is critical for ensuring stationarity, which I </a:t>
            </a:r>
          </a:p>
          <a:p>
            <a:r>
              <a:rPr lang="en-US" dirty="0"/>
              <a:t>mentioned earlier. Finally, we identify and document outliers, which is </a:t>
            </a:r>
          </a:p>
          <a:p>
            <a:r>
              <a:rPr lang="en-US" dirty="0"/>
              <a:t>important for understanding extreme events like the 2020 oil price collapse.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2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look at the descriptive statistics for our four assets. Bitcoin shows a </a:t>
            </a:r>
          </a:p>
          <a:p>
            <a:r>
              <a:rPr lang="en-US" dirty="0"/>
              <a:t>mean daily return of 0.13 percent, with a standard deviation of 3.45 percent, </a:t>
            </a:r>
          </a:p>
          <a:p>
            <a:r>
              <a:rPr lang="en-US" dirty="0"/>
              <a:t>indicating high volatility. It has negative skewness of negative 1.43, meaning </a:t>
            </a:r>
          </a:p>
          <a:p>
            <a:r>
              <a:rPr lang="en-US" dirty="0"/>
              <a:t>larger downside moves, and very high kurtosis of 21.49, indicating fat tails.</a:t>
            </a:r>
          </a:p>
          <a:p>
            <a:endParaRPr lang="en-US" dirty="0"/>
          </a:p>
          <a:p>
            <a:r>
              <a:rPr lang="en-US" dirty="0"/>
              <a:t>Ethereum shows a mean daily return of 0.17 percent, with the highest volatility </a:t>
            </a:r>
          </a:p>
          <a:p>
            <a:r>
              <a:rPr lang="en-US" dirty="0"/>
              <a:t>at 4.46 percent. It also has negative skewness of negative 1.28 and high </a:t>
            </a:r>
          </a:p>
          <a:p>
            <a:r>
              <a:rPr lang="en-US" dirty="0"/>
              <a:t>kurtosis of 17.26.</a:t>
            </a:r>
          </a:p>
          <a:p>
            <a:endParaRPr lang="en-US" dirty="0"/>
          </a:p>
          <a:p>
            <a:r>
              <a:rPr lang="en-US" dirty="0"/>
              <a:t>Gold shows a mean daily return of 0.03 percent, with the lowest volatility at </a:t>
            </a:r>
          </a:p>
          <a:p>
            <a:r>
              <a:rPr lang="en-US" dirty="0"/>
              <a:t>0.85 percent. It has negative skewness of negative 0.28 and moderate kurtosis </a:t>
            </a:r>
          </a:p>
          <a:p>
            <a:r>
              <a:rPr lang="en-US" dirty="0"/>
              <a:t>of 6.74.</a:t>
            </a:r>
          </a:p>
          <a:p>
            <a:endParaRPr lang="en-US" dirty="0"/>
          </a:p>
          <a:p>
            <a:r>
              <a:rPr lang="en-US" dirty="0"/>
              <a:t>Crude Oil shows a mean daily return of 0.04 percent, with volatility of 2.84 </a:t>
            </a:r>
          </a:p>
          <a:p>
            <a:r>
              <a:rPr lang="en-US" dirty="0"/>
              <a:t>percent. Interestingly, it has slightly positive skewness of 0.07, but </a:t>
            </a:r>
          </a:p>
          <a:p>
            <a:r>
              <a:rPr lang="en-US" dirty="0"/>
              <a:t>extremely high kurtosis of 35.34, largely due to the 2020 price collapse.</a:t>
            </a:r>
          </a:p>
          <a:p>
            <a:endParaRPr lang="en-US" dirty="0"/>
          </a:p>
          <a:p>
            <a:r>
              <a:rPr lang="en-US" dirty="0"/>
              <a:t>The key takeaway here is the volatility hierarchy: cryptocurrencies are 3 to 4 </a:t>
            </a:r>
          </a:p>
          <a:p>
            <a:r>
              <a:rPr lang="en-US" dirty="0"/>
              <a:t>times more volatile than commodities. All assets show excess kurtosis greater </a:t>
            </a:r>
          </a:p>
          <a:p>
            <a:r>
              <a:rPr lang="en-US" dirty="0"/>
              <a:t>than 3, indicating fat-tailed distributions with more extreme events than a </a:t>
            </a:r>
          </a:p>
          <a:p>
            <a:r>
              <a:rPr lang="en-US" dirty="0"/>
              <a:t>normal distribution would predict. The negative skewness across most assets </a:t>
            </a:r>
          </a:p>
          <a:p>
            <a:r>
              <a:rPr lang="en-US" dirty="0"/>
              <a:t>suggests larger and more frequent downside moves, which is characteristic of </a:t>
            </a:r>
          </a:p>
          <a:p>
            <a:r>
              <a:rPr lang="en-US" dirty="0"/>
              <a:t>financial assets during periods of market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4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 the key observations: Cryptocurrencies exhibit significantly </a:t>
            </a:r>
          </a:p>
          <a:p>
            <a:r>
              <a:rPr lang="en-US" dirty="0"/>
              <a:t>higher volatility than traditional commodities. Bitcoin shows 3.45 percent daily </a:t>
            </a:r>
          </a:p>
          <a:p>
            <a:r>
              <a:rPr lang="en-US" dirty="0"/>
              <a:t>volatility, and Ethereum shows 4.46 percent, compared to Gold's 0.85 percent </a:t>
            </a:r>
          </a:p>
          <a:p>
            <a:r>
              <a:rPr lang="en-US" dirty="0"/>
              <a:t>and Oil's 2.84 percent. This suggests higher risk-return profiles for digital </a:t>
            </a:r>
          </a:p>
          <a:p>
            <a:r>
              <a:rPr lang="en-US" dirty="0"/>
              <a:t>assets.</a:t>
            </a:r>
          </a:p>
          <a:p>
            <a:endParaRPr lang="en-US" dirty="0"/>
          </a:p>
          <a:p>
            <a:r>
              <a:rPr lang="en-US" dirty="0"/>
              <a:t>Both cryptocurrencies show positive average daily returns - Bitcoin at 0.13 </a:t>
            </a:r>
          </a:p>
          <a:p>
            <a:r>
              <a:rPr lang="en-US" dirty="0"/>
              <a:t>percent and Ethereum at 0.17 percent - while gold remains stable at 0.03 </a:t>
            </a:r>
          </a:p>
          <a:p>
            <a:r>
              <a:rPr lang="en-US" dirty="0"/>
              <a:t>percent and oil is slightly positive at 0.04 percent over our period.</a:t>
            </a:r>
          </a:p>
          <a:p>
            <a:endParaRPr lang="en-US" dirty="0"/>
          </a:p>
          <a:p>
            <a:r>
              <a:rPr lang="en-US" dirty="0"/>
              <a:t>All assets exhibit fat tails, with excess kurtosis greater than 3, indicating </a:t>
            </a:r>
          </a:p>
          <a:p>
            <a:r>
              <a:rPr lang="en-US" dirty="0"/>
              <a:t>more extreme events than a normal distribution would predict. Oil shows </a:t>
            </a:r>
          </a:p>
          <a:p>
            <a:r>
              <a:rPr lang="en-US" dirty="0"/>
              <a:t>particularly high kurtosis at 35.34 due to the 2020 price collapse.</a:t>
            </a:r>
          </a:p>
          <a:p>
            <a:endParaRPr lang="en-US" dirty="0"/>
          </a:p>
          <a:p>
            <a:r>
              <a:rPr lang="en-US" dirty="0"/>
              <a:t>The negative skewness across all assets, except oil which is slightly positive, </a:t>
            </a:r>
          </a:p>
          <a:p>
            <a:r>
              <a:rPr lang="en-US" dirty="0"/>
              <a:t>suggests larger and more frequent downside moves compared to upside moves. These </a:t>
            </a:r>
          </a:p>
          <a:p>
            <a:r>
              <a:rPr lang="en-US" dirty="0"/>
              <a:t>statistics validate our methodology and show why we need robust statistical </a:t>
            </a:r>
          </a:p>
          <a:p>
            <a:r>
              <a:rPr lang="en-US" dirty="0"/>
              <a:t>methods that account for non-normal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4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look at the static correlation matrix for the full sample period. </a:t>
            </a:r>
          </a:p>
          <a:p>
            <a:r>
              <a:rPr lang="en-US" dirty="0"/>
              <a:t>Bitcoin and Ethereum show a very strong correlation of 0.83, meaning they move </a:t>
            </a:r>
          </a:p>
          <a:p>
            <a:r>
              <a:rPr lang="en-US" dirty="0"/>
              <a:t>together. Bitcoin and Gold show a weak correlation of 0.12. Bitcoin and Oil </a:t>
            </a:r>
          </a:p>
          <a:p>
            <a:r>
              <a:rPr lang="en-US" dirty="0"/>
              <a:t>show a weak correlation of 0.11. Ethereum and Gold show a weak correlation of </a:t>
            </a:r>
          </a:p>
          <a:p>
            <a:r>
              <a:rPr lang="en-US" dirty="0"/>
              <a:t>0.12. Ethereum and Oil show a weak correlation of 0.10. Gold and Oil show a </a:t>
            </a:r>
          </a:p>
          <a:p>
            <a:r>
              <a:rPr lang="en-US" dirty="0"/>
              <a:t>moderate positive correlation of 0.14, which is consistent with their roles as </a:t>
            </a:r>
          </a:p>
          <a:p>
            <a:r>
              <a:rPr lang="en-US" dirty="0"/>
              <a:t>inflation-sensitive commodities.</a:t>
            </a:r>
          </a:p>
          <a:p>
            <a:endParaRPr lang="en-US" dirty="0"/>
          </a:p>
          <a:p>
            <a:r>
              <a:rPr lang="en-US" dirty="0"/>
              <a:t>These are static correlations for the full sample period. However, these static </a:t>
            </a:r>
          </a:p>
          <a:p>
            <a:r>
              <a:rPr lang="en-US" dirty="0"/>
              <a:t>correlations mask important time-varying dynamics, which is where our key </a:t>
            </a:r>
          </a:p>
          <a:p>
            <a:r>
              <a:rPr lang="en-US" dirty="0"/>
              <a:t>finding 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45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break down the key relationships. Bitcoin and Ethereum show a high </a:t>
            </a:r>
          </a:p>
          <a:p>
            <a:r>
              <a:rPr lang="en-US" dirty="0"/>
              <a:t>correlation of 0.83, suggesting they respond similarly to market forces and </a:t>
            </a:r>
          </a:p>
          <a:p>
            <a:r>
              <a:rPr lang="en-US" dirty="0"/>
              <a:t>share common drivers. This suggests they're not independent assets.</a:t>
            </a:r>
          </a:p>
          <a:p>
            <a:endParaRPr lang="en-US" dirty="0"/>
          </a:p>
          <a:p>
            <a:r>
              <a:rPr lang="en-US" dirty="0"/>
              <a:t>Both cryptocurrencies show low correlations with gold and oil over the full </a:t>
            </a:r>
          </a:p>
          <a:p>
            <a:r>
              <a:rPr lang="en-US" dirty="0"/>
              <a:t>sample - around 0.10 to 0.12 - which suggests potential diversification benefits </a:t>
            </a:r>
          </a:p>
          <a:p>
            <a:r>
              <a:rPr lang="en-US" dirty="0"/>
              <a:t>on average.</a:t>
            </a:r>
          </a:p>
          <a:p>
            <a:endParaRPr lang="en-US" dirty="0"/>
          </a:p>
          <a:p>
            <a:r>
              <a:rPr lang="en-US" dirty="0"/>
              <a:t>However, and this is the critical point: these static correlations mask </a:t>
            </a:r>
          </a:p>
          <a:p>
            <a:r>
              <a:rPr lang="en-US" dirty="0"/>
              <a:t>important time-varying dynamics. Our rolling correlation analysis shows that </a:t>
            </a:r>
          </a:p>
          <a:p>
            <a:r>
              <a:rPr lang="en-US" dirty="0"/>
              <a:t>the BTC-Gold correlation ranges from approximately negative 0.30 to positive </a:t>
            </a:r>
          </a:p>
          <a:p>
            <a:r>
              <a:rPr lang="en-US" dirty="0"/>
              <a:t>0.65 across different periods. This 0.95 range confirms regime-dependent </a:t>
            </a:r>
          </a:p>
          <a:p>
            <a:r>
              <a:rPr lang="en-US" dirty="0"/>
              <a:t>behavior. This is our key finding. To really understand these relationships, we </a:t>
            </a:r>
          </a:p>
          <a:p>
            <a:r>
              <a:rPr lang="en-US" dirty="0"/>
              <a:t>need to look at how correlations change over time, which brings us to our </a:t>
            </a:r>
          </a:p>
          <a:p>
            <a:r>
              <a:rPr lang="en-US" dirty="0"/>
              <a:t>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9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/>
              <a:t>Figure 1 shows the normalized price evolution of all four assets. You can see </a:t>
            </a:r>
          </a:p>
          <a:p>
            <a:pPr marL="0" lvl="0" indent="0">
              <a:buNone/>
            </a:pPr>
            <a:r>
              <a:rPr lang="en-US" b="0" dirty="0"/>
              <a:t>that Bitcoin and Ethereum show dramatic price appreciation from 2020 to 2021, </a:t>
            </a:r>
          </a:p>
          <a:p>
            <a:pPr marL="0" lvl="0" indent="0">
              <a:buNone/>
            </a:pPr>
            <a:r>
              <a:rPr lang="en-US" b="0" dirty="0"/>
              <a:t>followed by significant drawdowns during the 2022 crypto winter. Gold shows </a:t>
            </a:r>
          </a:p>
          <a:p>
            <a:pPr marL="0" lvl="0" indent="0">
              <a:buNone/>
            </a:pPr>
            <a:r>
              <a:rPr lang="en-US" b="0" dirty="0"/>
              <a:t>steady, moderate growth, which is characteristic of a traditional safe haven. </a:t>
            </a:r>
          </a:p>
          <a:p>
            <a:pPr marL="0" lvl="0" indent="0">
              <a:buNone/>
            </a:pPr>
            <a:r>
              <a:rPr lang="en-US" b="0" dirty="0"/>
              <a:t>Oil shows high volatility, especially during the COVID-19 period.</a:t>
            </a:r>
          </a:p>
          <a:p>
            <a:pPr marL="0" lvl="0" indent="0">
              <a:buNone/>
            </a:pPr>
            <a:endParaRPr lang="en-US" b="0" dirty="0"/>
          </a:p>
          <a:p>
            <a:pPr marL="0" lvl="0" indent="0">
              <a:buNone/>
            </a:pPr>
            <a:r>
              <a:rPr lang="en-US" b="0" dirty="0"/>
              <a:t>Notice how the crypto assets diverge from the commodities. The paths are quite </a:t>
            </a:r>
          </a:p>
          <a:p>
            <a:pPr marL="0" lvl="0" indent="0">
              <a:buNone/>
            </a:pPr>
            <a:r>
              <a:rPr lang="en-US" b="0" dirty="0"/>
              <a:t>different, which explains the low average correlation we saw earlier. However, </a:t>
            </a:r>
          </a:p>
          <a:p>
            <a:pPr marL="0" lvl="0" indent="0">
              <a:buNone/>
            </a:pPr>
            <a:r>
              <a:rPr lang="en-US" b="0" dirty="0"/>
              <a:t>we need to look at correlations over time, not just prices, to understand the </a:t>
            </a:r>
          </a:p>
          <a:p>
            <a:pPr marL="0" lvl="0" indent="0">
              <a:buNone/>
            </a:pPr>
            <a:r>
              <a:rPr lang="en-US" b="0" dirty="0"/>
              <a:t>full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78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/>
              <a:t>Figure 2 shows the rolling 90-day correlation between Bitcoin and Gold. This is </a:t>
            </a:r>
          </a:p>
          <a:p>
            <a:pPr marL="0" lvl="0" indent="0">
              <a:buNone/>
            </a:pPr>
            <a:r>
              <a:rPr lang="en-US" b="0" dirty="0"/>
              <a:t>where we see the time-varying nature of correlations. The red vertical lines </a:t>
            </a:r>
          </a:p>
          <a:p>
            <a:pPr marL="0" lvl="0" indent="0">
              <a:buNone/>
            </a:pPr>
            <a:r>
              <a:rPr lang="en-US" b="0" dirty="0"/>
              <a:t>mark key events. During the COVID-19 crisis in March 2020, the correlation </a:t>
            </a:r>
          </a:p>
          <a:p>
            <a:pPr marL="0" lvl="0" indent="0">
              <a:buNone/>
            </a:pPr>
            <a:r>
              <a:rPr lang="en-US" b="0" dirty="0"/>
              <a:t>spiked as both assets sold off together. During the Fed tightening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Federal Reserve's monetary policy of making credit less available and more expensive to control inflation)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b="0" dirty="0"/>
              <a:t>in March 2022, we can see how correlation behaved during monetary policy changes. The </a:t>
            </a:r>
          </a:p>
          <a:p>
            <a:pPr marL="0" lvl="0" indent="0">
              <a:buNone/>
            </a:pPr>
            <a:r>
              <a:rPr lang="en-US" b="0" dirty="0"/>
              <a:t>FTX collapse in November 2022 was a crypto-specific event, and notice how the </a:t>
            </a:r>
          </a:p>
          <a:p>
            <a:pPr marL="0" lvl="0" indent="0">
              <a:buNone/>
            </a:pPr>
            <a:r>
              <a:rPr lang="en-US" b="0" dirty="0"/>
              <a:t>correlation behaved. The banking crisis in March 2023 shows correlation during </a:t>
            </a:r>
          </a:p>
          <a:p>
            <a:pPr marL="0" lvl="0" indent="0">
              <a:buNone/>
            </a:pPr>
            <a:r>
              <a:rPr lang="en-US" b="0" dirty="0"/>
              <a:t>traditional financial system stress.</a:t>
            </a:r>
          </a:p>
          <a:p>
            <a:pPr marL="0" lvl="0" indent="0">
              <a:buNone/>
            </a:pPr>
            <a:endParaRPr lang="en-US" b="0" dirty="0"/>
          </a:p>
          <a:p>
            <a:pPr marL="0" lvl="0" indent="0">
              <a:buNone/>
            </a:pPr>
            <a:r>
              <a:rPr lang="en-US" b="0" dirty="0"/>
              <a:t>The correlation ranges from approximately negative 0.30 to positive 0.65. </a:t>
            </a:r>
          </a:p>
          <a:p>
            <a:pPr marL="0" lvl="0" indent="0">
              <a:buNone/>
            </a:pPr>
            <a:r>
              <a:rPr lang="en-US" b="0" dirty="0"/>
              <a:t>Correlation spikes during crisis periods, and it's often negative or low during </a:t>
            </a:r>
          </a:p>
          <a:p>
            <a:pPr marL="0" lvl="0" indent="0">
              <a:buNone/>
            </a:pPr>
            <a:r>
              <a:rPr lang="en-US" b="0" dirty="0"/>
              <a:t>normal periods. This shows clear regime-dependent behavior. Notice how </a:t>
            </a:r>
          </a:p>
          <a:p>
            <a:pPr marL="0" lvl="0" indent="0">
              <a:buNone/>
            </a:pPr>
            <a:r>
              <a:rPr lang="en-US" b="0" dirty="0"/>
              <a:t>correlation changes dramatically over time. During COVID-19, correlation spiked </a:t>
            </a:r>
          </a:p>
          <a:p>
            <a:pPr marL="0" lvl="0" indent="0">
              <a:buNone/>
            </a:pPr>
            <a:r>
              <a:rPr lang="en-US" b="0" dirty="0"/>
              <a:t>- both assets moved together. During the 2022 crypto winter, correlation was </a:t>
            </a:r>
          </a:p>
          <a:p>
            <a:pPr marL="0" lvl="0" indent="0">
              <a:buNone/>
            </a:pPr>
            <a:r>
              <a:rPr lang="en-US" b="0" dirty="0"/>
              <a:t>lower - crypto crashed while gold held relatively steady. This suggests </a:t>
            </a:r>
          </a:p>
          <a:p>
            <a:pPr marL="0" lvl="0" indent="0">
              <a:buNone/>
            </a:pPr>
            <a:r>
              <a:rPr lang="en-US" b="0" dirty="0"/>
              <a:t>correlations can signal market stress. This directly answers our Research </a:t>
            </a:r>
          </a:p>
          <a:p>
            <a:pPr marL="0" lvl="0" indent="0">
              <a:buNone/>
            </a:pPr>
            <a:r>
              <a:rPr lang="en-US" b="0" dirty="0"/>
              <a:t>Questions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7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/>
              <a:t>Figure 3 shows the rolling correlation between Bitcoin and Oil. The correlation </a:t>
            </a:r>
          </a:p>
          <a:p>
            <a:pPr marL="0" lvl="0" indent="0">
              <a:buNone/>
            </a:pPr>
            <a:r>
              <a:rPr lang="en-US" b="0" dirty="0"/>
              <a:t>is more volatile than the BTC-Gold correlation. We see periods of strong </a:t>
            </a:r>
          </a:p>
          <a:p>
            <a:pPr marL="0" lvl="0" indent="0">
              <a:buNone/>
            </a:pPr>
            <a:r>
              <a:rPr lang="en-US" b="0" dirty="0"/>
              <a:t>positive correlation, which may indicate risk-on regimes, and periods of </a:t>
            </a:r>
          </a:p>
          <a:p>
            <a:pPr marL="0" lvl="0" indent="0">
              <a:buNone/>
            </a:pPr>
            <a:r>
              <a:rPr lang="en-US" b="0" dirty="0"/>
              <a:t>negative correlation, indicating decoupling.</a:t>
            </a:r>
          </a:p>
          <a:p>
            <a:pPr marL="0" lvl="0" indent="0">
              <a:buNone/>
            </a:pPr>
            <a:endParaRPr lang="en-US" b="0" dirty="0"/>
          </a:p>
          <a:p>
            <a:pPr marL="0" lvl="0" indent="0">
              <a:buNone/>
            </a:pPr>
            <a:r>
              <a:rPr lang="en-US" b="0" dirty="0"/>
              <a:t>Oil is more sensitive to economic cycles than gold. The BTC-Oil correlation may </a:t>
            </a:r>
          </a:p>
          <a:p>
            <a:pPr marL="0" lvl="0" indent="0">
              <a:buNone/>
            </a:pPr>
            <a:r>
              <a:rPr lang="en-US" b="0" dirty="0"/>
              <a:t>reflect risk sentiment - high correlation suggests risk-on regimes, while low or </a:t>
            </a:r>
          </a:p>
          <a:p>
            <a:pPr marL="0" lvl="0" indent="0">
              <a:buNone/>
            </a:pPr>
            <a:r>
              <a:rPr lang="en-US" b="0" dirty="0"/>
              <a:t>negative correlation suggests risk-off or decoupling. Compared to BTC-Gold, the </a:t>
            </a:r>
          </a:p>
          <a:p>
            <a:pPr marL="0" lvl="0" indent="0">
              <a:buNone/>
            </a:pPr>
            <a:r>
              <a:rPr lang="en-US" b="0" dirty="0"/>
              <a:t>oil correlations are more volatile, which supports our regime indicator </a:t>
            </a:r>
          </a:p>
          <a:p>
            <a:pPr marL="0" lvl="0" indent="0">
              <a:buNone/>
            </a:pPr>
            <a:r>
              <a:rPr lang="en-US" b="0" dirty="0"/>
              <a:t>hypothesis. Oil's sensitivity to economic cycles makes it a different type of </a:t>
            </a:r>
          </a:p>
          <a:p>
            <a:pPr marL="0" lvl="0" indent="0">
              <a:buNone/>
            </a:pPr>
            <a:r>
              <a:rPr lang="en-US" b="0" dirty="0"/>
              <a:t>indicator than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4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4 shows the distribution histograms of daily returns for all four assets. </a:t>
            </a:r>
          </a:p>
          <a:p>
            <a:pPr marL="0" lvl="0" indent="0">
              <a:buNone/>
            </a:pPr>
            <a:r>
              <a:rPr lang="en-US" dirty="0"/>
              <a:t>All distributions show fat tails, meaning more extreme events than a normal </a:t>
            </a:r>
          </a:p>
          <a:p>
            <a:pPr marL="0" lvl="0" indent="0">
              <a:buNone/>
            </a:pPr>
            <a:r>
              <a:rPr lang="en-US" dirty="0"/>
              <a:t>distribution. The cryptocurrencies have wider distributions, reflecting their </a:t>
            </a:r>
          </a:p>
          <a:p>
            <a:pPr marL="0" lvl="0" indent="0">
              <a:buNone/>
            </a:pPr>
            <a:r>
              <a:rPr lang="en-US" dirty="0"/>
              <a:t>higher volatility. Negative skewness is visible, with longer left tails, </a:t>
            </a:r>
          </a:p>
          <a:p>
            <a:pPr marL="0" lvl="0" indent="0">
              <a:buNone/>
            </a:pPr>
            <a:r>
              <a:rPr lang="en-US" dirty="0"/>
              <a:t>indicating larger downside moves.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These distributions are not normally distributed, which is why we need robust </a:t>
            </a:r>
          </a:p>
          <a:p>
            <a:pPr marL="0" lvl="0" indent="0">
              <a:buNone/>
            </a:pPr>
            <a:r>
              <a:rPr lang="en-US" dirty="0"/>
              <a:t>statistical methods. This validates our summary statistics and shows why we use </a:t>
            </a:r>
          </a:p>
          <a:p>
            <a:pPr marL="0" lvl="0" indent="0">
              <a:buNone/>
            </a:pPr>
            <a:r>
              <a:rPr lang="en-US" dirty="0"/>
              <a:t>robust correlation measures like Spearman correlations in addition to Pearson </a:t>
            </a:r>
          </a:p>
          <a:p>
            <a:pPr marL="0" lvl="0" indent="0">
              <a:buNone/>
            </a:pPr>
            <a:r>
              <a:rPr lang="en-US" dirty="0"/>
              <a:t>correlations. The key insight is that financial returns are not normally </a:t>
            </a:r>
          </a:p>
          <a:p>
            <a:pPr marL="0" lvl="0" indent="0">
              <a:buNone/>
            </a:pPr>
            <a:r>
              <a:rPr lang="en-US" dirty="0"/>
              <a:t>distributed, which is why we use robust statistical methods throughout our </a:t>
            </a:r>
          </a:p>
          <a:p>
            <a:pPr marL="0" lvl="0" indent="0">
              <a:buNone/>
            </a:pPr>
            <a:r>
              <a:rPr lang="en-US" dirty="0"/>
              <a:t>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5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 shows a heatmap of quarterly correlation evolution. Red indicates </a:t>
            </a:r>
          </a:p>
          <a:p>
            <a:r>
              <a:rPr lang="en-US" dirty="0"/>
              <a:t>positive correlation, blue indicates negative correlation, and white indicates </a:t>
            </a:r>
          </a:p>
          <a:p>
            <a:r>
              <a:rPr lang="en-US" dirty="0"/>
              <a:t>near zero. The BTC-ETH correlation is consistently high in red - they always </a:t>
            </a:r>
          </a:p>
          <a:p>
            <a:r>
              <a:rPr lang="en-US" dirty="0"/>
              <a:t>move together. The crypto-commodity correlations vary by quarter. Some quarters </a:t>
            </a:r>
          </a:p>
          <a:p>
            <a:r>
              <a:rPr lang="en-US" dirty="0"/>
              <a:t>show strong positive correlations, while others show weak or negative </a:t>
            </a:r>
          </a:p>
          <a:p>
            <a:r>
              <a:rPr lang="en-US" dirty="0"/>
              <a:t>correlations.</a:t>
            </a:r>
          </a:p>
          <a:p>
            <a:endParaRPr lang="en-US" dirty="0"/>
          </a:p>
          <a:p>
            <a:r>
              <a:rPr lang="en-US" dirty="0"/>
              <a:t>This visualization makes the time-varying patterns very clear. You can see </a:t>
            </a:r>
          </a:p>
          <a:p>
            <a:r>
              <a:rPr lang="en-US" dirty="0"/>
              <a:t>which periods had high correlations, which is useful for identifying regime </a:t>
            </a:r>
          </a:p>
          <a:p>
            <a:r>
              <a:rPr lang="en-US" dirty="0"/>
              <a:t>transitions. This provides a good visual summary of the dynamic nature of these </a:t>
            </a:r>
          </a:p>
          <a:p>
            <a:r>
              <a:rPr lang="en-US" dirty="0"/>
              <a:t>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0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summarize the methods we've implemented. First, we performed rolling </a:t>
            </a:r>
          </a:p>
          <a:p>
            <a:r>
              <a:rPr lang="en-US" dirty="0"/>
              <a:t>correlation analysis using multiple window sizes: 30, 60, 90, and 180 days. The </a:t>
            </a:r>
          </a:p>
          <a:p>
            <a:r>
              <a:rPr lang="en-US" dirty="0"/>
              <a:t>30-day window is more responsive but noisier. The 90-day window, which is our </a:t>
            </a:r>
          </a:p>
          <a:p>
            <a:r>
              <a:rPr lang="en-US" dirty="0"/>
              <a:t>primary measure, provides a good balance. The 180-day window is more stable but </a:t>
            </a:r>
          </a:p>
          <a:p>
            <a:r>
              <a:rPr lang="en-US" dirty="0"/>
              <a:t>slower to detect changes. The 90-day window balances statistical stability with </a:t>
            </a:r>
          </a:p>
          <a:p>
            <a:r>
              <a:rPr lang="en-US" dirty="0"/>
              <a:t>responsiveness to regime changes. We calculated correlations for all asset </a:t>
            </a:r>
          </a:p>
          <a:p>
            <a:r>
              <a:rPr lang="en-US" dirty="0"/>
              <a:t>pairs.</a:t>
            </a:r>
          </a:p>
          <a:p>
            <a:endParaRPr lang="en-US" dirty="0"/>
          </a:p>
          <a:p>
            <a:r>
              <a:rPr lang="en-US" dirty="0"/>
              <a:t>Second, we calculated alternative correlation measures using Spearman rank </a:t>
            </a:r>
          </a:p>
          <a:p>
            <a:r>
              <a:rPr lang="en-US" dirty="0"/>
              <a:t>correlations, which are less sensitive to outliers than Pearson correlations. </a:t>
            </a:r>
          </a:p>
          <a:p>
            <a:r>
              <a:rPr lang="en-US" dirty="0"/>
              <a:t>This provides a robustness check, and the results are consistent with our </a:t>
            </a:r>
          </a:p>
          <a:p>
            <a:r>
              <a:rPr lang="en-US" dirty="0"/>
              <a:t>Pearson correlations, giving us confidence in our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6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Third, we performed statistical testing using Augmented Dickey-Fuller tests to </a:t>
            </a:r>
          </a:p>
          <a:p>
            <a:r>
              <a:rPr lang="en-US" dirty="0"/>
              <a:t>verify stationarity. All return series are stationary with p-values less than </a:t>
            </a:r>
          </a:p>
          <a:p>
            <a:r>
              <a:rPr lang="en-US" dirty="0"/>
              <a:t>0.05, which validates our correlation analysis methodology. Stationarity is </a:t>
            </a:r>
          </a:p>
          <a:p>
            <a:r>
              <a:rPr lang="en-US" dirty="0"/>
              <a:t>required for reliable correlation analysis, and our use of log returns ensures </a:t>
            </a:r>
          </a:p>
          <a:p>
            <a:r>
              <a:rPr lang="en-US" dirty="0"/>
              <a:t>stationarity.</a:t>
            </a:r>
          </a:p>
          <a:p>
            <a:endParaRPr lang="en-US" dirty="0"/>
          </a:p>
          <a:p>
            <a:r>
              <a:rPr lang="en-US" dirty="0"/>
              <a:t>Fourth, we implemented preliminary regime identification using a threshold-based </a:t>
            </a:r>
          </a:p>
          <a:p>
            <a:r>
              <a:rPr lang="en-US" dirty="0"/>
              <a:t>classification system. This is preliminary - more sophisticated methods are </a:t>
            </a:r>
          </a:p>
          <a:p>
            <a:r>
              <a:rPr lang="en-US" dirty="0"/>
              <a:t>planned - but simple thresholds already show clear patterns. High positive </a:t>
            </a:r>
          </a:p>
          <a:p>
            <a:r>
              <a:rPr lang="en-US" dirty="0"/>
              <a:t>correlations greater than 0.3 suggest strong coupling and risk-on regimes. Low </a:t>
            </a:r>
          </a:p>
          <a:p>
            <a:r>
              <a:rPr lang="en-US" dirty="0"/>
              <a:t>correlations between negative 0.1 and positive 0.1 suggest independent </a:t>
            </a:r>
          </a:p>
          <a:p>
            <a:r>
              <a:rPr lang="en-US" dirty="0"/>
              <a:t>movement. High negative correlations less than negative 0.3 suggest strong </a:t>
            </a:r>
          </a:p>
          <a:p>
            <a:r>
              <a:rPr lang="en-US" dirty="0"/>
              <a:t>decoupling and risk-off regimes. This helps us identify when correlations </a:t>
            </a:r>
          </a:p>
          <a:p>
            <a:r>
              <a:rPr lang="en-US" dirty="0"/>
              <a:t>signal different market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8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our key findings. Finding 1 is that correlations are time-varying. </a:t>
            </a:r>
          </a:p>
          <a:p>
            <a:r>
              <a:rPr lang="en-US" dirty="0"/>
              <a:t>Rolling correlations show significant variation over time. The BTC-Gold </a:t>
            </a:r>
          </a:p>
          <a:p>
            <a:r>
              <a:rPr lang="en-US" dirty="0"/>
              <a:t>correlation ranges from approximately negative 0.30 to positive 0.65. This 0.95 </a:t>
            </a:r>
          </a:p>
          <a:p>
            <a:r>
              <a:rPr lang="en-US" dirty="0"/>
              <a:t>range confirms regime-dependent behavior. Static correlations are misleading - </a:t>
            </a:r>
          </a:p>
          <a:p>
            <a:r>
              <a:rPr lang="en-US" dirty="0"/>
              <a:t>they hide the dynamic nature of these relationships.</a:t>
            </a:r>
          </a:p>
          <a:p>
            <a:endParaRPr lang="en-US" dirty="0"/>
          </a:p>
          <a:p>
            <a:r>
              <a:rPr lang="en-US" dirty="0"/>
              <a:t>Finding 2 is about crypto-commodity relationships. On average, correlations are </a:t>
            </a:r>
          </a:p>
          <a:p>
            <a:r>
              <a:rPr lang="en-US" dirty="0"/>
              <a:t>low, suggesting diversification benefits. However, correlations increase during </a:t>
            </a:r>
          </a:p>
          <a:p>
            <a:r>
              <a:rPr lang="en-US" dirty="0"/>
              <a:t>market stress. This is the key insight for regime identification. When markets </a:t>
            </a:r>
          </a:p>
          <a:p>
            <a:r>
              <a:rPr lang="en-US" dirty="0"/>
              <a:t>are stressed, crypto and commodities move together more, which reduces </a:t>
            </a:r>
          </a:p>
          <a:p>
            <a:r>
              <a:rPr lang="en-US" dirty="0"/>
              <a:t>diversification benefits during crises. These findings directly answer our </a:t>
            </a:r>
          </a:p>
          <a:p>
            <a:r>
              <a:rPr lang="en-US" dirty="0"/>
              <a:t>Research Questions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54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3 is about volatility differences. Cryptocurrencies are 3 to 4 times </a:t>
            </a:r>
          </a:p>
          <a:p>
            <a:r>
              <a:rPr lang="en-US" dirty="0"/>
              <a:t>more volatile than commodities. Bitcoin shows 3.45 percent daily volatility </a:t>
            </a:r>
          </a:p>
          <a:p>
            <a:r>
              <a:rPr lang="en-US" dirty="0"/>
              <a:t>compared to Gold's 0.85 percent. This is important for portfolio construction.</a:t>
            </a:r>
          </a:p>
          <a:p>
            <a:endParaRPr lang="en-US" dirty="0"/>
          </a:p>
          <a:p>
            <a:r>
              <a:rPr lang="en-US" dirty="0"/>
              <a:t>Finding 4 is that all return series are stationary, as confirmed by our ADF </a:t>
            </a:r>
          </a:p>
          <a:p>
            <a:r>
              <a:rPr lang="en-US" dirty="0"/>
              <a:t>tests. This validates our correlation analysis methodology.</a:t>
            </a:r>
          </a:p>
          <a:p>
            <a:endParaRPr lang="en-US" dirty="0"/>
          </a:p>
          <a:p>
            <a:r>
              <a:rPr lang="en-US" dirty="0"/>
              <a:t>Finding 5 is that we observe distinct periods of high and low correlation that </a:t>
            </a:r>
          </a:p>
          <a:p>
            <a:r>
              <a:rPr lang="en-US" dirty="0"/>
              <a:t>correspond to different market regimes. This provides preliminary evidence that </a:t>
            </a:r>
          </a:p>
          <a:p>
            <a:r>
              <a:rPr lang="en-US" dirty="0"/>
              <a:t>correlations can signal regime changes, which addresses Research Question 2. We </a:t>
            </a:r>
          </a:p>
          <a:p>
            <a:r>
              <a:rPr lang="en-US" dirty="0"/>
              <a:t>can see clear patterns that correspond to known market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413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encountered several technical challenges during our analysis. First, trading </a:t>
            </a:r>
          </a:p>
          <a:p>
            <a:r>
              <a:rPr lang="en-US" dirty="0"/>
              <a:t>calendar alignment was a real challenge. Cryptocurrencies trade 24/7 while </a:t>
            </a:r>
          </a:p>
          <a:p>
            <a:r>
              <a:rPr lang="en-US" dirty="0"/>
              <a:t>commodities trade only on weekdays. We addressed this by forward-filling </a:t>
            </a:r>
          </a:p>
          <a:p>
            <a:r>
              <a:rPr lang="en-US" dirty="0"/>
              <a:t>weekend values for commodities.</a:t>
            </a:r>
          </a:p>
          <a:p>
            <a:endParaRPr lang="en-US" dirty="0"/>
          </a:p>
          <a:p>
            <a:r>
              <a:rPr lang="en-US" dirty="0"/>
              <a:t>Second, we handled missing data that may occur due to market holidays or data </a:t>
            </a:r>
          </a:p>
          <a:p>
            <a:r>
              <a:rPr lang="en-US" dirty="0"/>
              <a:t>feed issues by implementing forward-fill methods while preserving data </a:t>
            </a:r>
          </a:p>
          <a:p>
            <a:r>
              <a:rPr lang="en-US" dirty="0"/>
              <a:t>integrity.</a:t>
            </a:r>
          </a:p>
          <a:p>
            <a:endParaRPr lang="en-US" dirty="0"/>
          </a:p>
          <a:p>
            <a:r>
              <a:rPr lang="en-US" dirty="0"/>
              <a:t>Third, we encountered occasional rate limiting from the Yahoo Finance API. We </a:t>
            </a:r>
          </a:p>
          <a:p>
            <a:r>
              <a:rPr lang="en-US" dirty="0"/>
              <a:t>implemented retry logic with delays to handle these situations gracefully.</a:t>
            </a:r>
          </a:p>
          <a:p>
            <a:endParaRPr lang="en-US" dirty="0"/>
          </a:p>
          <a:p>
            <a:r>
              <a:rPr lang="en-US" dirty="0"/>
              <a:t>Fourth, at the beginning of the time series, rolling correlations cannot be </a:t>
            </a:r>
          </a:p>
          <a:p>
            <a:r>
              <a:rPr lang="en-US" dirty="0"/>
              <a:t>calculated until sufficient data points are available. We handle this by </a:t>
            </a:r>
          </a:p>
          <a:p>
            <a:r>
              <a:rPr lang="en-US" dirty="0"/>
              <a:t>setting initial values to NA and only calculating correlations once the window </a:t>
            </a:r>
          </a:p>
          <a:p>
            <a:r>
              <a:rPr lang="en-US" dirty="0"/>
              <a:t>is filled.</a:t>
            </a:r>
          </a:p>
          <a:p>
            <a:endParaRPr lang="en-US" dirty="0"/>
          </a:p>
          <a:p>
            <a:r>
              <a:rPr lang="en-US" dirty="0"/>
              <a:t>Fifth, calculating rolling correlations for multiple windows and asset pairs can </a:t>
            </a:r>
          </a:p>
          <a:p>
            <a:r>
              <a:rPr lang="en-US" dirty="0"/>
              <a:t>be computationally intensive. We optimized our code to calculate correlations </a:t>
            </a:r>
          </a:p>
          <a:p>
            <a:r>
              <a:rPr lang="en-US" dirty="0"/>
              <a:t>efficiently while maintaining accuracy.</a:t>
            </a:r>
          </a:p>
          <a:p>
            <a:endParaRPr lang="en-US" dirty="0"/>
          </a:p>
          <a:p>
            <a:r>
              <a:rPr lang="en-US" dirty="0"/>
              <a:t>These are common issues in financial data analysis, and our solutions ensure </a:t>
            </a:r>
          </a:p>
          <a:p>
            <a:r>
              <a:rPr lang="en-US" dirty="0"/>
              <a:t>data integrity while maintaining analysis quality. This demonstrates our </a:t>
            </a:r>
          </a:p>
          <a:p>
            <a:r>
              <a:rPr lang="en-US" dirty="0"/>
              <a:t>problem-solving skills and technical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79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we plan to do next to complete the project. First, we'll implement </a:t>
            </a:r>
          </a:p>
          <a:p>
            <a:r>
              <a:rPr lang="en-US" dirty="0"/>
              <a:t>advanced regime detection. Our current approach uses simple threshold-based </a:t>
            </a:r>
          </a:p>
          <a:p>
            <a:r>
              <a:rPr lang="en-US" dirty="0"/>
              <a:t>classification. We plan to use change-point detection algorithms to identify </a:t>
            </a:r>
          </a:p>
          <a:p>
            <a:r>
              <a:rPr lang="en-US" dirty="0"/>
              <a:t>structural breaks, clustering analysis using K-means or hierarchical methods on </a:t>
            </a:r>
          </a:p>
          <a:p>
            <a:r>
              <a:rPr lang="en-US" dirty="0"/>
              <a:t>correlation vectors, and machine learning approaches for regime classification.</a:t>
            </a:r>
          </a:p>
          <a:p>
            <a:endParaRPr lang="en-US" dirty="0"/>
          </a:p>
          <a:p>
            <a:r>
              <a:rPr lang="en-US" dirty="0"/>
              <a:t>Second, we'll conduct event study analysis with detailed analysis around major </a:t>
            </a:r>
          </a:p>
          <a:p>
            <a:r>
              <a:rPr lang="en-US" dirty="0"/>
              <a:t>market events. We'll examine the COVID-19 market crash in March 2020, Federal </a:t>
            </a:r>
          </a:p>
          <a:p>
            <a:r>
              <a:rPr lang="en-US" dirty="0"/>
              <a:t>Reserve policy announcements in 2022 and 2023, major crypto events like the </a:t>
            </a:r>
          </a:p>
          <a:p>
            <a:r>
              <a:rPr lang="en-US" dirty="0"/>
              <a:t>FTX collapse and ETF approvals, and geopolitical events. We'll analyze </a:t>
            </a:r>
          </a:p>
          <a:p>
            <a:r>
              <a:rPr lang="en-US" dirty="0"/>
              <a:t>correlation behavior using plus or minus 30 day event windows. This will help </a:t>
            </a:r>
          </a:p>
          <a:p>
            <a:r>
              <a:rPr lang="en-US" dirty="0"/>
              <a:t>us understand how correlations respond to specific events.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80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Third, we'll perform comparative analysis with a deep dive into differences </a:t>
            </a:r>
          </a:p>
          <a:p>
            <a:r>
              <a:rPr lang="en-US" dirty="0"/>
              <a:t>between Bitcoin and Ethereum, statistical tests for significant differences in </a:t>
            </a:r>
          </a:p>
          <a:p>
            <a:r>
              <a:rPr lang="en-US" dirty="0"/>
              <a:t>correlation patterns, and analysis of potential drivers like use case </a:t>
            </a:r>
          </a:p>
          <a:p>
            <a:r>
              <a:rPr lang="en-US" dirty="0"/>
              <a:t>differences and market cap.</a:t>
            </a:r>
          </a:p>
          <a:p>
            <a:endParaRPr lang="en-US" dirty="0"/>
          </a:p>
          <a:p>
            <a:r>
              <a:rPr lang="en-US" dirty="0"/>
              <a:t>Fourth, we'll conduct advanced statistical testing including correlation </a:t>
            </a:r>
          </a:p>
          <a:p>
            <a:r>
              <a:rPr lang="en-US" dirty="0"/>
              <a:t>stability tests across identified regimes, Granger causality tests to examine </a:t>
            </a:r>
          </a:p>
          <a:p>
            <a:r>
              <a:rPr lang="en-US" dirty="0"/>
              <a:t>predictive relationships, and cointegration tests if applicable.</a:t>
            </a:r>
          </a:p>
          <a:p>
            <a:endParaRPr lang="en-US" dirty="0"/>
          </a:p>
          <a:p>
            <a:r>
              <a:rPr lang="en-US" dirty="0"/>
              <a:t>Fifth, we'll perform threshold analysis to determine specific correlation </a:t>
            </a:r>
          </a:p>
          <a:p>
            <a:r>
              <a:rPr lang="en-US" dirty="0"/>
              <a:t>thresholds that signal regime transitions, using receiver operating </a:t>
            </a:r>
          </a:p>
          <a:p>
            <a:r>
              <a:rPr lang="en-US" dirty="0"/>
              <a:t>characteristic or ROC analysis, and </a:t>
            </a:r>
            <a:r>
              <a:rPr lang="en-US" dirty="0" err="1"/>
              <a:t>backtesting</a:t>
            </a:r>
            <a:r>
              <a:rPr lang="en-US" dirty="0"/>
              <a:t> regime signals to see if they </a:t>
            </a:r>
          </a:p>
          <a:p>
            <a:r>
              <a:rPr lang="en-US" dirty="0"/>
              <a:t>would have been useful in practice.</a:t>
            </a:r>
          </a:p>
          <a:p>
            <a:endParaRPr lang="en-US" dirty="0"/>
          </a:p>
          <a:p>
            <a:r>
              <a:rPr lang="en-US" dirty="0"/>
              <a:t>Finally, we'll compile all findings into a comprehensive final report with </a:t>
            </a:r>
          </a:p>
          <a:p>
            <a:r>
              <a:rPr lang="en-US" dirty="0"/>
              <a:t>complete analysis of all research questions, policy and investment implications, </a:t>
            </a:r>
          </a:p>
          <a:p>
            <a:r>
              <a:rPr lang="en-US" dirty="0"/>
              <a:t>and limitations and future research directions. This shows our forward thinking </a:t>
            </a:r>
          </a:p>
          <a:p>
            <a:r>
              <a:rPr lang="en-US" dirty="0"/>
              <a:t>and understanding of what's needed, and demonstrates that this is a work in </a:t>
            </a:r>
          </a:p>
          <a:p>
            <a:r>
              <a:rPr lang="en-US" dirty="0"/>
              <a:t>progress, not a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663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Third, we'll perform comparative analysis with a deep dive into differences </a:t>
            </a:r>
          </a:p>
          <a:p>
            <a:r>
              <a:rPr lang="en-US" dirty="0"/>
              <a:t>between Bitcoin and Ethereum, statistical tests for significant differences in </a:t>
            </a:r>
          </a:p>
          <a:p>
            <a:r>
              <a:rPr lang="en-US" dirty="0"/>
              <a:t>correlation patterns, and analysis of potential drivers like use case </a:t>
            </a:r>
          </a:p>
          <a:p>
            <a:r>
              <a:rPr lang="en-US" dirty="0"/>
              <a:t>differences and market cap.</a:t>
            </a:r>
          </a:p>
          <a:p>
            <a:endParaRPr lang="en-US" dirty="0"/>
          </a:p>
          <a:p>
            <a:r>
              <a:rPr lang="en-US" dirty="0"/>
              <a:t>Fourth, we'll conduct advanced statistical testing including correlation </a:t>
            </a:r>
          </a:p>
          <a:p>
            <a:r>
              <a:rPr lang="en-US" dirty="0"/>
              <a:t>stability tests across identified regimes, Granger causality tests to examine </a:t>
            </a:r>
          </a:p>
          <a:p>
            <a:r>
              <a:rPr lang="en-US" dirty="0"/>
              <a:t>predictive relationships, and cointegration tests if applicable.</a:t>
            </a:r>
          </a:p>
          <a:p>
            <a:endParaRPr lang="en-US" dirty="0"/>
          </a:p>
          <a:p>
            <a:r>
              <a:rPr lang="en-US" dirty="0"/>
              <a:t>Fifth, we'll perform threshold analysis to determine specific correlation </a:t>
            </a:r>
          </a:p>
          <a:p>
            <a:r>
              <a:rPr lang="en-US" dirty="0"/>
              <a:t>thresholds that signal regime transitions, using receiver operating </a:t>
            </a:r>
          </a:p>
          <a:p>
            <a:r>
              <a:rPr lang="en-US" dirty="0"/>
              <a:t>characteristic or ROC analysis, and </a:t>
            </a:r>
            <a:r>
              <a:rPr lang="en-US" dirty="0" err="1"/>
              <a:t>backtesting</a:t>
            </a:r>
            <a:r>
              <a:rPr lang="en-US" dirty="0"/>
              <a:t> regime signals to see if they </a:t>
            </a:r>
          </a:p>
          <a:p>
            <a:r>
              <a:rPr lang="en-US" dirty="0"/>
              <a:t>would have been useful in practice.</a:t>
            </a:r>
          </a:p>
          <a:p>
            <a:endParaRPr lang="en-US" dirty="0"/>
          </a:p>
          <a:p>
            <a:r>
              <a:rPr lang="en-US" dirty="0"/>
              <a:t>Finally, we'll compile all findings into a comprehensive final report with </a:t>
            </a:r>
          </a:p>
          <a:p>
            <a:r>
              <a:rPr lang="en-US" dirty="0"/>
              <a:t>complete analysis of all research questions, policy and investment implications, </a:t>
            </a:r>
          </a:p>
          <a:p>
            <a:r>
              <a:rPr lang="en-US" dirty="0"/>
              <a:t>and limitations and future research directions. This shows our forward thinking </a:t>
            </a:r>
          </a:p>
          <a:p>
            <a:r>
              <a:rPr lang="en-US" dirty="0"/>
              <a:t>and understanding of what's needed, and demonstrates that this is a work in </a:t>
            </a:r>
          </a:p>
          <a:p>
            <a:r>
              <a:rPr lang="en-US"/>
              <a:t>progress, not a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96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here are our key takeaways. First, correlations are dynamic - they </a:t>
            </a:r>
          </a:p>
          <a:p>
            <a:r>
              <a:rPr lang="en-US" dirty="0"/>
              <a:t>are not static and vary significantly over time. This is our main finding.</a:t>
            </a:r>
          </a:p>
          <a:p>
            <a:endParaRPr lang="en-US" dirty="0"/>
          </a:p>
          <a:p>
            <a:r>
              <a:rPr lang="en-US" dirty="0"/>
              <a:t>Second, regime indicators work - changes in correlations can signal market </a:t>
            </a:r>
          </a:p>
          <a:p>
            <a:r>
              <a:rPr lang="en-US" dirty="0"/>
              <a:t>regime shifts, which addresses Research Question 2.</a:t>
            </a:r>
          </a:p>
          <a:p>
            <a:endParaRPr lang="en-US" dirty="0"/>
          </a:p>
          <a:p>
            <a:r>
              <a:rPr lang="en-US" dirty="0"/>
              <a:t>Third, crisis behavior shows that correlations spike during market stress, </a:t>
            </a:r>
          </a:p>
          <a:p>
            <a:r>
              <a:rPr lang="en-US" dirty="0"/>
              <a:t>reducing diversification benefits. This is important for investors to </a:t>
            </a:r>
          </a:p>
          <a:p>
            <a:r>
              <a:rPr lang="en-US" dirty="0"/>
              <a:t>understand.</a:t>
            </a:r>
          </a:p>
          <a:p>
            <a:endParaRPr lang="en-US" dirty="0"/>
          </a:p>
          <a:p>
            <a:r>
              <a:rPr lang="en-US" dirty="0"/>
              <a:t>Fourth, crypto evolution shows that cryptocurrencies exhibit both similarities </a:t>
            </a:r>
          </a:p>
          <a:p>
            <a:r>
              <a:rPr lang="en-US" dirty="0"/>
              <a:t>and differences to traditional assets. They're maturing but still distinct.</a:t>
            </a:r>
          </a:p>
          <a:p>
            <a:endParaRPr lang="en-US" dirty="0"/>
          </a:p>
          <a:p>
            <a:r>
              <a:rPr lang="en-US" dirty="0"/>
              <a:t>Fifth, this analysis has practical value - it can inform investment and risk </a:t>
            </a:r>
          </a:p>
          <a:p>
            <a:r>
              <a:rPr lang="en-US" dirty="0"/>
              <a:t>management decisions. This is not just academic work; it has real applications </a:t>
            </a:r>
          </a:p>
          <a:p>
            <a:r>
              <a:rPr lang="en-US" dirty="0"/>
              <a:t>for portfolio construction and risk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8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Cryptocurrency-Commodity Correlation as a Market Regime Indicator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Progress Report Presentation</a:t>
            </a:r>
            <a:br/>
            <a:br/>
            <a:r>
              <a:t>Group 7: Jhanvi Damwani, Saketh Kanchi, Ajith Shetty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Cryptocurrency-Commodity Correlation as a Market Regime Indicator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Progress Report</a:t>
            </a:r>
          </a:p>
          <a:p>
            <a:pPr marL="0" lvl="0" indent="0">
              <a:buNone/>
            </a:pPr>
            <a:r>
              <a:rPr b="1"/>
              <a:t>Group 7:</a:t>
            </a:r>
            <a:r>
              <a:t> Jhanvi Damwani, Saketh Kanchi, Ajith Shetty</a:t>
            </a:r>
            <a:br/>
            <a:r>
              <a:rPr b="1"/>
              <a:t>Course:</a:t>
            </a:r>
            <a:r>
              <a:t> FA-582, Fall 2025</a:t>
            </a:r>
            <a:br/>
            <a:r>
              <a:rPr b="1"/>
              <a:t>Date:</a:t>
            </a:r>
            <a:r>
              <a:t>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Research Matters</a:t>
            </a:r>
          </a:p>
          <a:p>
            <a:pPr lvl="0"/>
            <a:r>
              <a:t>Cryptocurrencies have evolved from niche instruments to </a:t>
            </a:r>
            <a:r>
              <a:rPr b="1"/>
              <a:t>macro-relevant financial assets</a:t>
            </a:r>
          </a:p>
          <a:p>
            <a:pPr lvl="0"/>
            <a:r>
              <a:t>Understanding their relationship with traditional commodities is crucial for:</a:t>
            </a:r>
          </a:p>
          <a:p>
            <a:pPr lvl="1"/>
            <a:r>
              <a:rPr b="1"/>
              <a:t>Portfolio diversification strategies</a:t>
            </a:r>
          </a:p>
          <a:p>
            <a:pPr lvl="1"/>
            <a:r>
              <a:rPr b="1"/>
              <a:t>Risk management decisions</a:t>
            </a:r>
          </a:p>
          <a:p>
            <a:pPr lvl="1"/>
            <a:r>
              <a:rPr b="1"/>
              <a:t>Market regime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Gold and Oil?</a:t>
            </a:r>
          </a:p>
          <a:p>
            <a:pPr lvl="0"/>
            <a:r>
              <a:rPr b="1"/>
              <a:t>Gold:</a:t>
            </a:r>
            <a:r>
              <a:t> Hedge against inflation, store of value during uncertainty</a:t>
            </a:r>
          </a:p>
          <a:p>
            <a:pPr lvl="0"/>
            <a:r>
              <a:rPr b="1"/>
              <a:t>Oil:</a:t>
            </a:r>
            <a:r>
              <a:t> Reflects real economic activity and demand cycles</a:t>
            </a:r>
          </a:p>
          <a:p>
            <a:pPr lvl="0"/>
            <a:r>
              <a:t>Both are traditional commodities with well-understood behaviors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marL="0" lvl="0" indent="0">
              <a:buNone/>
            </a:pPr>
            <a:r>
              <a:rPr b="1"/>
              <a:t>Can cryptocurrency-commodity correlations act as market regime indicators?</a:t>
            </a:r>
          </a:p>
          <a:p>
            <a:pPr lvl="0"/>
            <a:r>
              <a:t>When correlations </a:t>
            </a:r>
            <a:r>
              <a:rPr b="1"/>
              <a:t>rise</a:t>
            </a:r>
            <a:r>
              <a:t> → crypto perceived as traditional risk asset</a:t>
            </a:r>
          </a:p>
          <a:p>
            <a:pPr lvl="0"/>
            <a:r>
              <a:t>When correlations </a:t>
            </a:r>
            <a:r>
              <a:rPr b="1"/>
              <a:t>weaken</a:t>
            </a:r>
            <a:r>
              <a:t> → diversification benefits or independent 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Time Period?</a:t>
            </a:r>
          </a:p>
          <a:p>
            <a:pPr marL="0" lvl="0" indent="0">
              <a:buNone/>
            </a:pPr>
            <a:r>
              <a:rPr b="1"/>
              <a:t>January 2020 - September 2024</a:t>
            </a:r>
            <a:r>
              <a:t> captures multiple market regimes:</a:t>
            </a:r>
          </a:p>
          <a:p>
            <a:pPr lvl="0"/>
            <a:r>
              <a:rPr b="1"/>
              <a:t>COVID-19 crisis</a:t>
            </a:r>
            <a:r>
              <a:t> (March 2020)</a:t>
            </a:r>
          </a:p>
          <a:p>
            <a:pPr lvl="0"/>
            <a:r>
              <a:rPr b="1"/>
              <a:t>Bull markets</a:t>
            </a:r>
            <a:r>
              <a:t> (2021)</a:t>
            </a:r>
          </a:p>
          <a:p>
            <a:pPr lvl="0"/>
            <a:r>
              <a:rPr b="1"/>
              <a:t>2022 crypto winter</a:t>
            </a:r>
          </a:p>
          <a:p>
            <a:pPr lvl="0"/>
            <a:r>
              <a:rPr b="1"/>
              <a:t>Federal Reserve tightening cycle</a:t>
            </a:r>
          </a:p>
          <a:p>
            <a:pPr lvl="0"/>
            <a:r>
              <a:rPr b="1"/>
              <a:t>2023 banking turmoil</a:t>
            </a:r>
          </a:p>
          <a:p>
            <a:pPr marL="0" lvl="0" indent="0">
              <a:buNone/>
            </a:pPr>
            <a:r>
              <a:t>These provide </a:t>
            </a:r>
            <a:r>
              <a:rPr b="1"/>
              <a:t>natural experiments</a:t>
            </a:r>
            <a:r>
              <a:t> to study relationships under different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Four Key Research Questions</a:t>
            </a:r>
          </a:p>
          <a:p>
            <a:pPr marL="0" lvl="0" indent="0">
              <a:buNone/>
            </a:pPr>
            <a:r>
              <a:rPr b="1"/>
              <a:t>RQ1:</a:t>
            </a:r>
            <a:r>
              <a:t> How do correlations between cryptocurrencies (Bitcoin, Ethereum) and commodities (gold, oil) vary across different market regimes?</a:t>
            </a:r>
          </a:p>
          <a:p>
            <a:pPr marL="0" lvl="0" indent="0">
              <a:buNone/>
            </a:pPr>
            <a:r>
              <a:rPr b="1"/>
              <a:t>RQ2:</a:t>
            </a:r>
            <a:r>
              <a:t> Can changes in cryptocurrency-commodity correlations serve as indicators of market stress and regime shifts?</a:t>
            </a:r>
          </a:p>
          <a:p>
            <a:pPr marL="0" lvl="0" indent="0">
              <a:buNone/>
            </a:pPr>
            <a:r>
              <a:rPr b="1"/>
              <a:t>RQ3:</a:t>
            </a:r>
            <a:r>
              <a:t> Do Bitcoin and Ethereum exhibit different correlation patterns with gold and oil?</a:t>
            </a:r>
          </a:p>
          <a:p>
            <a:pPr marL="0" lvl="0" indent="0">
              <a:buNone/>
            </a:pPr>
            <a:r>
              <a:rPr b="1"/>
              <a:t>RQ4:</a:t>
            </a:r>
            <a:r>
              <a:t> What correlation thresholds signal transitions between risk-on and risk-off regimes?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 Source</a:t>
            </a:r>
          </a:p>
          <a:p>
            <a:pPr lvl="0"/>
            <a:r>
              <a:rPr b="1"/>
              <a:t>Source:</a:t>
            </a:r>
            <a:r>
              <a:t> Yahoo Finance API</a:t>
            </a:r>
          </a:p>
          <a:p>
            <a:pPr lvl="0"/>
            <a:r>
              <a:rPr b="1"/>
              <a:t>Time Period:</a:t>
            </a:r>
            <a:r>
              <a:t> January 1, 2020 - September 30, 2024</a:t>
            </a:r>
          </a:p>
          <a:p>
            <a:pPr lvl="0"/>
            <a:r>
              <a:rPr b="1"/>
              <a:t>Observations:</a:t>
            </a:r>
            <a:r>
              <a:t> ~1,200 daily observations per asset</a:t>
            </a:r>
          </a:p>
          <a:p>
            <a:pPr lvl="0"/>
            <a:r>
              <a:rPr b="1"/>
              <a:t>Frequency:</a:t>
            </a:r>
            <a:r>
              <a:t> Daily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Assets Analyzed</a:t>
            </a:r>
          </a:p>
          <a:p>
            <a:pPr lvl="0"/>
            <a:r>
              <a:rPr b="1"/>
              <a:t>Bitcoin (BTC-USD):</a:t>
            </a:r>
            <a:r>
              <a:t> Largest cryptocurrency by market cap</a:t>
            </a:r>
          </a:p>
          <a:p>
            <a:pPr lvl="0"/>
            <a:r>
              <a:rPr b="1"/>
              <a:t>Ethereum (ETH-USD):</a:t>
            </a:r>
            <a:r>
              <a:t> Second-largest, smart contract platform</a:t>
            </a:r>
          </a:p>
          <a:p>
            <a:pPr lvl="0"/>
            <a:r>
              <a:rPr b="1"/>
              <a:t>Gold Futures (GC=F):</a:t>
            </a:r>
            <a:r>
              <a:t> Traditional safe-haven asset</a:t>
            </a:r>
          </a:p>
          <a:p>
            <a:pPr lvl="0"/>
            <a:r>
              <a:rPr b="1"/>
              <a:t>Crude Oil Futures (CL=F):</a:t>
            </a:r>
            <a:r>
              <a:t> WTI crude oil, economic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Derived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18556"/>
              </p:ext>
            </p:extLst>
          </p:nvPr>
        </p:nvGraphicFramePr>
        <p:xfrm>
          <a:off x="2019300" y="1417320"/>
          <a:ext cx="51054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ln(Price_t / Price_t-1)</a:t>
                      </a:r>
                      <a:r>
                        <a:t> - ensures stationarity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Correlations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90-day rolling correlation between asset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30-day rolling standard deviation of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Normalized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Price normalized to base 100 at 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Preprocessing Steps</a:t>
            </a:r>
          </a:p>
          <a:p>
            <a:pPr marL="342900" lvl="0" indent="-342900">
              <a:buAutoNum type="arabicPeriod"/>
            </a:pPr>
            <a:r>
              <a:rPr b="1"/>
              <a:t>Handle missing values:</a:t>
            </a:r>
            <a:r>
              <a:t> Forward-fill for commodity weekend gaps</a:t>
            </a:r>
          </a:p>
          <a:p>
            <a:pPr lvl="1"/>
            <a:r>
              <a:t>Crypto trades 24/7, commodities trade weekdays only</a:t>
            </a:r>
          </a:p>
          <a:p>
            <a:pPr marL="342900" lvl="0" indent="-342900">
              <a:buAutoNum type="arabicPeriod"/>
            </a:pPr>
            <a:r>
              <a:rPr b="1"/>
              <a:t>Align trading calendars:</a:t>
            </a:r>
            <a:r>
              <a:t> Merge on common dates</a:t>
            </a:r>
          </a:p>
          <a:p>
            <a:pPr marL="342900" lvl="0" indent="-342900">
              <a:buAutoNum type="arabicPeriod"/>
            </a:pPr>
            <a:r>
              <a:rPr b="1"/>
              <a:t>Use adjusted closing prices:</a:t>
            </a:r>
            <a:r>
              <a:t> Accounts for corporate actions</a:t>
            </a:r>
          </a:p>
          <a:p>
            <a:pPr marL="342900" lvl="0" indent="-342900">
              <a:buAutoNum type="arabicPeriod"/>
            </a:pPr>
            <a:r>
              <a:rPr b="1"/>
              <a:t>Calculate log returns:</a:t>
            </a:r>
            <a:r>
              <a:t> Ensures stationarity for correlation analysis</a:t>
            </a:r>
          </a:p>
          <a:p>
            <a:pPr marL="342900" lvl="0" indent="-342900">
              <a:buAutoNum type="arabicPeriod"/>
            </a:pPr>
            <a:r>
              <a:rPr b="1"/>
              <a:t>Identify outliers:</a:t>
            </a:r>
            <a:r>
              <a:t> Document extreme price movements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Summary Statistics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Descriptive Statistics for Daily Returns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774515"/>
              </p:ext>
            </p:extLst>
          </p:nvPr>
        </p:nvGraphicFramePr>
        <p:xfrm>
          <a:off x="1603375" y="1534676"/>
          <a:ext cx="5937250" cy="2601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4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 Return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Std Dev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Skewness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Crude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35.34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Statistics - 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Volatility Hierarchy</a:t>
            </a:r>
          </a:p>
          <a:p>
            <a:pPr lvl="0"/>
            <a:r>
              <a:rPr b="1"/>
              <a:t>Cryptocurrencies:</a:t>
            </a:r>
            <a:r>
              <a:t> 3-4x higher volatility than commodities</a:t>
            </a:r>
          </a:p>
          <a:p>
            <a:pPr lvl="1"/>
            <a:r>
              <a:t>Bitcoin: 3.45% daily volatility</a:t>
            </a:r>
          </a:p>
          <a:p>
            <a:pPr lvl="1"/>
            <a:r>
              <a:t>Ethereum: 4.46% daily volatility</a:t>
            </a:r>
          </a:p>
          <a:p>
            <a:pPr lvl="0"/>
            <a:r>
              <a:rPr b="1"/>
              <a:t>Commodities:</a:t>
            </a:r>
            <a:r>
              <a:t> Lower volatility</a:t>
            </a:r>
          </a:p>
          <a:p>
            <a:pPr lvl="1"/>
            <a:r>
              <a:t>Gold: 0.85% daily volatility</a:t>
            </a:r>
          </a:p>
          <a:p>
            <a:pPr lvl="1"/>
            <a:r>
              <a:t>Oil: 2.84% daily volatility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Distribution Characteristics</a:t>
            </a:r>
          </a:p>
          <a:p>
            <a:pPr lvl="0"/>
            <a:r>
              <a:rPr b="1"/>
              <a:t>Fat Tails:</a:t>
            </a:r>
            <a:r>
              <a:t> All assets show excess kurtosis (&gt;3)</a:t>
            </a:r>
          </a:p>
          <a:p>
            <a:pPr lvl="0"/>
            <a:r>
              <a:rPr b="1"/>
              <a:t>Negative Skewness:</a:t>
            </a:r>
            <a:r>
              <a:t> Larger downside moves than upside moves</a:t>
            </a:r>
          </a:p>
          <a:p>
            <a:pPr lvl="0"/>
            <a:r>
              <a:rPr b="1"/>
              <a:t>Not normally distributed:</a:t>
            </a:r>
            <a:r>
              <a:t> Need robust statistical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Static Correlation Matrix (Full Sample Period)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128878"/>
              </p:ext>
            </p:extLst>
          </p:nvPr>
        </p:nvGraphicFramePr>
        <p:xfrm>
          <a:off x="1462127" y="1907884"/>
          <a:ext cx="6219745" cy="185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Asset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Oil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0.14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Oil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0.14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1.00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Correlation Analysis - 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95724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sz="1200" b="1" dirty="0"/>
              <a:t>Strong Crypto-Crypto Correlation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Bitcoin-Ethereum:</a:t>
            </a:r>
            <a:r>
              <a:rPr sz="1200" dirty="0"/>
              <a:t> 0.83</a:t>
            </a:r>
          </a:p>
          <a:p>
            <a:pPr lvl="1">
              <a:lnSpc>
                <a:spcPct val="120000"/>
              </a:lnSpc>
            </a:pPr>
            <a:r>
              <a:rPr sz="1200" dirty="0"/>
              <a:t>They respond similarly to market forces</a:t>
            </a:r>
          </a:p>
          <a:p>
            <a:pPr lvl="1">
              <a:lnSpc>
                <a:spcPct val="120000"/>
              </a:lnSpc>
            </a:pPr>
            <a:r>
              <a:rPr sz="1200" dirty="0"/>
              <a:t>Share common drivers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Weak Crypto-Commodity Correlations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BTC-Oil:</a:t>
            </a:r>
            <a:r>
              <a:rPr sz="1200" dirty="0"/>
              <a:t> 0.11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ETH-Oil:</a:t>
            </a:r>
            <a:r>
              <a:rPr sz="1200" dirty="0"/>
              <a:t> 0.1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On average:</a:t>
            </a:r>
            <a:r>
              <a:rPr sz="1200" dirty="0"/>
              <a:t> Low correlations suggest diversification benefits</a:t>
            </a:r>
            <a:endParaRPr lang="en-US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sz="1200" b="1" dirty="0"/>
              <a:t>Time-Varying Patterns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Static correlations mask important dynamics!</a:t>
            </a:r>
          </a:p>
          <a:p>
            <a:pPr lvl="0">
              <a:lnSpc>
                <a:spcPct val="120000"/>
              </a:lnSpc>
            </a:pPr>
            <a:r>
              <a:rPr sz="1200" dirty="0"/>
              <a:t>BTC-Gold correlation ranges from </a:t>
            </a:r>
            <a:r>
              <a:rPr sz="1200" b="1" dirty="0"/>
              <a:t>-0.24 to 0.54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This 0.95 range confirms regime-dependent behavior!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1: Normalized Price Time Series</a:t>
            </a:r>
          </a:p>
        </p:txBody>
      </p:sp>
      <p:pic>
        <p:nvPicPr>
          <p:cNvPr id="3" name="Picture 1" descr="presentation_files/figure-pptx/fig1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2: Rolling BTC-Gold Correlation</a:t>
            </a:r>
          </a:p>
        </p:txBody>
      </p:sp>
      <p:pic>
        <p:nvPicPr>
          <p:cNvPr id="3" name="Picture 1" descr="presentation_files/figure-pptx/fig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3: Rolling BTC-Oil Correlation</a:t>
            </a:r>
          </a:p>
        </p:txBody>
      </p:sp>
      <p:pic>
        <p:nvPicPr>
          <p:cNvPr id="3" name="Picture 1" descr="presentation_files/figure-pptx/fig3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4: Return Distributions</a:t>
            </a:r>
          </a:p>
        </p:txBody>
      </p:sp>
      <p:pic>
        <p:nvPicPr>
          <p:cNvPr id="3" name="Picture 1" descr="presentation_files/figure-pptx/fig4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5: Correlation Evolution Heatmap</a:t>
            </a:r>
          </a:p>
        </p:txBody>
      </p:sp>
      <p:pic>
        <p:nvPicPr>
          <p:cNvPr id="3" name="Picture 1" descr="presentation_files/figure-pptx/fig5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1. Rolling Correlation Analysis</a:t>
            </a:r>
          </a:p>
          <a:p>
            <a:pPr lvl="0"/>
            <a:r>
              <a:t>Multiple window sizes: </a:t>
            </a:r>
            <a:r>
              <a:rPr b="1"/>
              <a:t>30, 60, 90, and 180 days</a:t>
            </a:r>
          </a:p>
          <a:p>
            <a:pPr lvl="0"/>
            <a:r>
              <a:rPr b="1"/>
              <a:t>90-day window</a:t>
            </a:r>
            <a:r>
              <a:t> is primary measure (balances stability and responsiveness)</a:t>
            </a:r>
          </a:p>
          <a:p>
            <a:pPr lvl="0"/>
            <a:r>
              <a:t>Calculated for all asset pairs:</a:t>
            </a:r>
          </a:p>
          <a:p>
            <a:pPr lvl="1"/>
            <a:r>
              <a:t>BTC-Gold, BTC-Oil</a:t>
            </a:r>
          </a:p>
          <a:p>
            <a:pPr lvl="1"/>
            <a:r>
              <a:t>ETH-Gold, ETH-Oil</a:t>
            </a:r>
          </a:p>
          <a:p>
            <a:pPr lvl="1"/>
            <a:r>
              <a:t>BTC-ETH (for comparison)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Alternative Correlation Measures</a:t>
            </a:r>
          </a:p>
          <a:p>
            <a:pPr lvl="0"/>
            <a:r>
              <a:rPr b="1"/>
              <a:t>Spearman rank correlations:</a:t>
            </a:r>
            <a:r>
              <a:t> Less sensitive to outliers</a:t>
            </a:r>
          </a:p>
          <a:p>
            <a:pPr lvl="0"/>
            <a:r>
              <a:t>Provides robustness check</a:t>
            </a:r>
          </a:p>
          <a:p>
            <a:pPr lvl="0"/>
            <a:r>
              <a:t>Results consistent with Pearson correlations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3. Statistical Testing</a:t>
            </a:r>
          </a:p>
          <a:p>
            <a:pPr lvl="0"/>
            <a:r>
              <a:rPr b="1"/>
              <a:t>Augmented Dickey-Fuller (ADF) tests:</a:t>
            </a:r>
            <a:r>
              <a:t> Verify stationarity</a:t>
            </a:r>
          </a:p>
          <a:p>
            <a:pPr lvl="0"/>
            <a:r>
              <a:t>All return series are </a:t>
            </a:r>
            <a:r>
              <a:rPr b="1"/>
              <a:t>stationary</a:t>
            </a:r>
            <a:r>
              <a:t> (p &lt; 0.05)</a:t>
            </a:r>
          </a:p>
          <a:p>
            <a:pPr lvl="0"/>
            <a:r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4. Preliminary Regime Identification</a:t>
            </a:r>
          </a:p>
          <a:p>
            <a:pPr lvl="0"/>
            <a:r>
              <a:t>Threshold-based classification:</a:t>
            </a:r>
          </a:p>
          <a:p>
            <a:pPr lvl="1"/>
            <a:r>
              <a:rPr b="1"/>
              <a:t>High Positive (&gt;0.3):</a:t>
            </a:r>
            <a:r>
              <a:t> Strong coupling, risk-on</a:t>
            </a:r>
          </a:p>
          <a:p>
            <a:pPr lvl="1"/>
            <a:r>
              <a:rPr b="1"/>
              <a:t>Moderate Positive (0.1-0.3):</a:t>
            </a:r>
            <a:r>
              <a:t> Some coupling</a:t>
            </a:r>
          </a:p>
          <a:p>
            <a:pPr lvl="1"/>
            <a:r>
              <a:rPr b="1"/>
              <a:t>Low (-0.1 to 0.1):</a:t>
            </a:r>
            <a:r>
              <a:t> Independent movement</a:t>
            </a:r>
          </a:p>
          <a:p>
            <a:pPr lvl="1"/>
            <a:r>
              <a:rPr b="1"/>
              <a:t>Moderate Negative (-0.3 to -0.1):</a:t>
            </a:r>
            <a:r>
              <a:t> Some decoupling</a:t>
            </a:r>
          </a:p>
          <a:p>
            <a:pPr lvl="1"/>
            <a:r>
              <a:rPr b="1"/>
              <a:t>High Negative (&lt;-0.3):</a:t>
            </a:r>
            <a:r>
              <a:t> Strong decoupling, risk-off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1: Time-Varying Correlations</a:t>
            </a:r>
          </a:p>
          <a:p>
            <a:pPr lvl="0"/>
            <a:r>
              <a:rPr sz="1600" dirty="0"/>
              <a:t>Rolling correlations show </a:t>
            </a:r>
            <a:r>
              <a:rPr sz="1600" b="1" dirty="0"/>
              <a:t>significant variation</a:t>
            </a:r>
            <a:r>
              <a:rPr sz="1600" dirty="0"/>
              <a:t> over time</a:t>
            </a:r>
          </a:p>
          <a:p>
            <a:pPr lvl="0"/>
            <a:r>
              <a:rPr sz="1600" dirty="0"/>
              <a:t>BTC-Gold correlation ranges from </a:t>
            </a:r>
            <a:r>
              <a:rPr sz="1600" b="1" dirty="0"/>
              <a:t>-0.24 to 0.54</a:t>
            </a:r>
          </a:p>
          <a:p>
            <a:pPr lvl="0"/>
            <a:r>
              <a:rPr sz="1600" b="1" dirty="0"/>
              <a:t>This 0.95 range confirms regime-dependent behavior!</a:t>
            </a:r>
          </a:p>
          <a:p>
            <a:pPr lvl="0"/>
            <a:r>
              <a:rPr sz="1600" dirty="0"/>
              <a:t>Static correlations are misleading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2: Crypto-Commodity Relationships</a:t>
            </a:r>
          </a:p>
          <a:p>
            <a:pPr lvl="0"/>
            <a:r>
              <a:rPr sz="1600" dirty="0"/>
              <a:t>On average, correlations are </a:t>
            </a:r>
            <a:r>
              <a:rPr sz="1600" b="1" dirty="0"/>
              <a:t>low</a:t>
            </a:r>
            <a:r>
              <a:rPr sz="1600" dirty="0"/>
              <a:t> (diversification benefits)</a:t>
            </a:r>
          </a:p>
          <a:p>
            <a:pPr lvl="0"/>
            <a:r>
              <a:rPr sz="1600" b="1" dirty="0"/>
              <a:t>However, correlations increase during market stress</a:t>
            </a:r>
          </a:p>
          <a:p>
            <a:pPr lvl="0"/>
            <a:r>
              <a:rPr sz="1600" dirty="0"/>
              <a:t>This is the key insight for regime identification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3: Volatility Differences</a:t>
            </a:r>
          </a:p>
          <a:p>
            <a:pPr lvl="0"/>
            <a:r>
              <a:rPr sz="1600" dirty="0"/>
              <a:t>Cryptocurrencies are </a:t>
            </a:r>
            <a:r>
              <a:rPr sz="1600" b="1" dirty="0"/>
              <a:t>3-4x more volatile</a:t>
            </a:r>
            <a:r>
              <a:rPr sz="1600" dirty="0"/>
              <a:t> than commodities</a:t>
            </a:r>
          </a:p>
          <a:p>
            <a:pPr lvl="0"/>
            <a:r>
              <a:rPr sz="1600" dirty="0"/>
              <a:t>Bitcoin: 3.45% vs. Gold: 0.85%</a:t>
            </a:r>
          </a:p>
          <a:p>
            <a:pPr lvl="0"/>
            <a:r>
              <a:rPr sz="1600" dirty="0"/>
              <a:t>Higher risk-return profiles for digital assets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4: Stationarity</a:t>
            </a:r>
          </a:p>
          <a:p>
            <a:pPr lvl="0"/>
            <a:r>
              <a:rPr sz="1600" dirty="0"/>
              <a:t>All return series are </a:t>
            </a:r>
            <a:r>
              <a:rPr sz="1600" b="1" dirty="0"/>
              <a:t>stationary</a:t>
            </a:r>
            <a:r>
              <a:rPr sz="1600" dirty="0"/>
              <a:t> (ADF tests confirmed)</a:t>
            </a:r>
          </a:p>
          <a:p>
            <a:pPr lvl="0"/>
            <a:r>
              <a:rPr sz="1600" dirty="0"/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5: Regime Patterns</a:t>
            </a:r>
          </a:p>
          <a:p>
            <a:pPr lvl="0"/>
            <a:r>
              <a:rPr sz="1600" dirty="0"/>
              <a:t>Distinct periods of high and low correlation</a:t>
            </a:r>
          </a:p>
          <a:p>
            <a:pPr lvl="0"/>
            <a:r>
              <a:rPr sz="1600" dirty="0"/>
              <a:t>These correspond to different market regimes</a:t>
            </a:r>
          </a:p>
          <a:p>
            <a:pPr lvl="0"/>
            <a:r>
              <a:rPr sz="1600" dirty="0"/>
              <a:t>Preliminary evidence that correlations can signal regime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300" b="1" dirty="0"/>
              <a:t>Technical Challenges</a:t>
            </a:r>
          </a:p>
          <a:p>
            <a:pPr marL="342900" lvl="0" indent="-342900">
              <a:buAutoNum type="arabicPeriod"/>
            </a:pPr>
            <a:r>
              <a:rPr sz="1300" b="1" dirty="0"/>
              <a:t>Trading Calendar Alignment</a:t>
            </a:r>
          </a:p>
          <a:p>
            <a:pPr lvl="1"/>
            <a:r>
              <a:rPr sz="1300" dirty="0"/>
              <a:t>Crypto trades 24/7, commodities trade weekdays only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weekend values</a:t>
            </a:r>
          </a:p>
          <a:p>
            <a:pPr marL="342900" lvl="0" indent="-342900">
              <a:buAutoNum type="arabicPeriod"/>
            </a:pPr>
            <a:r>
              <a:rPr sz="1300" b="1" dirty="0"/>
              <a:t>Data Availability</a:t>
            </a:r>
          </a:p>
          <a:p>
            <a:pPr lvl="1"/>
            <a:r>
              <a:rPr sz="1300" dirty="0"/>
              <a:t>Missing data due to holidays or feed issues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methods</a:t>
            </a:r>
          </a:p>
          <a:p>
            <a:pPr marL="342900" lvl="0" indent="-342900">
              <a:buAutoNum type="arabicPeriod"/>
            </a:pPr>
            <a:r>
              <a:rPr sz="1300" b="1" dirty="0"/>
              <a:t>API Rate Limiting</a:t>
            </a:r>
          </a:p>
          <a:p>
            <a:pPr lvl="1"/>
            <a:r>
              <a:rPr sz="1300" dirty="0"/>
              <a:t>Yahoo Finance API rate limits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Retry logic with delays</a:t>
            </a:r>
          </a:p>
          <a:p>
            <a:pPr marL="342900" lvl="0" indent="-342900">
              <a:buAutoNum type="arabicPeriod"/>
            </a:pPr>
            <a:r>
              <a:rPr sz="1300" b="1" dirty="0"/>
              <a:t>Rolling Window Edge Cases</a:t>
            </a:r>
          </a:p>
          <a:p>
            <a:pPr lvl="1"/>
            <a:r>
              <a:rPr sz="1300" dirty="0"/>
              <a:t>Can’t calculate correlations at start of series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Set initial values to NA, require minimum observations</a:t>
            </a:r>
          </a:p>
          <a:p>
            <a:pPr marL="342900" lvl="0" indent="-342900">
              <a:buAutoNum type="arabicPeriod"/>
            </a:pPr>
            <a:r>
              <a:rPr sz="1300" b="1" dirty="0"/>
              <a:t>Computational Efficiency</a:t>
            </a:r>
          </a:p>
          <a:p>
            <a:pPr lvl="1"/>
            <a:r>
              <a:rPr sz="1300" dirty="0"/>
              <a:t>Many calculations for multiple windows and pairs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Optimized rolling correlation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1. Advanced Regime Detection</a:t>
            </a:r>
          </a:p>
          <a:p>
            <a:pPr lvl="0"/>
            <a:r>
              <a:rPr sz="1600" dirty="0"/>
              <a:t>Change-point detection algorithms</a:t>
            </a:r>
          </a:p>
          <a:p>
            <a:pPr lvl="0"/>
            <a:r>
              <a:rPr sz="1600" dirty="0"/>
              <a:t>Clustering analysis (K-means, hierarchical)</a:t>
            </a:r>
          </a:p>
          <a:p>
            <a:pPr lvl="0"/>
            <a:r>
              <a:rPr sz="1600" dirty="0"/>
              <a:t>Machine learning approaches for regime classification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2. Event Study Analysis</a:t>
            </a:r>
          </a:p>
          <a:p>
            <a:pPr lvl="0"/>
            <a:r>
              <a:rPr sz="1600" dirty="0"/>
              <a:t>Detailed analysis around major events:</a:t>
            </a:r>
          </a:p>
          <a:p>
            <a:pPr lvl="1"/>
            <a:r>
              <a:rPr sz="1600" dirty="0"/>
              <a:t>COVID-19 market crash (March 2020)</a:t>
            </a:r>
          </a:p>
          <a:p>
            <a:pPr lvl="1"/>
            <a:r>
              <a:rPr sz="1600" dirty="0"/>
              <a:t>Federal Reserve policy announcements</a:t>
            </a:r>
          </a:p>
          <a:p>
            <a:pPr lvl="1"/>
            <a:r>
              <a:rPr sz="1600" dirty="0"/>
              <a:t>Major crypto events (FTX collapse, ETF approvals)</a:t>
            </a:r>
          </a:p>
          <a:p>
            <a:pPr lvl="1"/>
            <a:r>
              <a:rPr sz="1600" dirty="0"/>
              <a:t>Analyze correlation behavior using ±30 day event windows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Next Steps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3. Comparative Analysis</a:t>
            </a:r>
          </a:p>
          <a:p>
            <a:pPr lvl="0"/>
            <a:r>
              <a:rPr sz="2000" dirty="0"/>
              <a:t>Deep dive into differences between Bitcoin and Ethereum</a:t>
            </a:r>
          </a:p>
          <a:p>
            <a:pPr lvl="0"/>
            <a:r>
              <a:rPr sz="2000" dirty="0"/>
              <a:t>Statistical tests for significant differences</a:t>
            </a:r>
          </a:p>
          <a:p>
            <a:pPr lvl="0"/>
            <a:r>
              <a:rPr sz="2000" dirty="0"/>
              <a:t>Analysis of potential drivers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4. Advanced Statistical Testing</a:t>
            </a:r>
          </a:p>
          <a:p>
            <a:pPr lvl="0"/>
            <a:r>
              <a:rPr sz="2000" dirty="0"/>
              <a:t>Correlation stability tests across regimes</a:t>
            </a:r>
          </a:p>
          <a:p>
            <a:pPr lvl="0"/>
            <a:r>
              <a:rPr sz="2000" dirty="0"/>
              <a:t>Granger causality tests</a:t>
            </a:r>
          </a:p>
          <a:p>
            <a:pPr lvl="0"/>
            <a:r>
              <a:rPr sz="2000" dirty="0"/>
              <a:t>Cointegration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8094-D196-1B16-320F-D09C76961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8E9D-2B38-6579-039F-524BC4FC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5. Threshold Analysis</a:t>
            </a:r>
          </a:p>
          <a:p>
            <a:pPr lvl="0"/>
            <a:r>
              <a:rPr lang="en-US" dirty="0"/>
              <a:t>Determine specific correlation thresholds</a:t>
            </a:r>
          </a:p>
          <a:p>
            <a:pPr lvl="0"/>
            <a:r>
              <a:rPr lang="en-US" dirty="0"/>
              <a:t>Use ROC analysis</a:t>
            </a:r>
          </a:p>
          <a:p>
            <a:pPr lvl="0"/>
            <a:r>
              <a:rPr lang="en-US" dirty="0" err="1"/>
              <a:t>Backtest</a:t>
            </a:r>
            <a:r>
              <a:rPr lang="en-US" dirty="0"/>
              <a:t> regime signals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6. Final Report</a:t>
            </a:r>
          </a:p>
          <a:p>
            <a:pPr lvl="0"/>
            <a:r>
              <a:rPr lang="en-US" dirty="0"/>
              <a:t>Complete analysis of all research questions</a:t>
            </a:r>
          </a:p>
          <a:p>
            <a:pPr lvl="0"/>
            <a:r>
              <a:rPr lang="en-US" dirty="0"/>
              <a:t>Policy and investment implications</a:t>
            </a:r>
          </a:p>
          <a:p>
            <a:pPr lvl="0"/>
            <a:r>
              <a:rPr lang="en-US" dirty="0"/>
              <a:t>Limitations and future research directions</a:t>
            </a:r>
          </a:p>
        </p:txBody>
      </p:sp>
    </p:spTree>
    <p:extLst>
      <p:ext uri="{BB962C8B-B14F-4D97-AF65-F5344CB8AC3E}">
        <p14:creationId xmlns:p14="http://schemas.microsoft.com/office/powerpoint/2010/main" val="1976315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Key Takeaways</a:t>
            </a:r>
          </a:p>
          <a:p>
            <a:pPr marL="342900" lvl="0" indent="-342900">
              <a:buAutoNum type="arabicPeriod"/>
            </a:pPr>
            <a:r>
              <a:rPr sz="2000" b="1" dirty="0"/>
              <a:t>Correlations are Dynamic:</a:t>
            </a:r>
            <a:r>
              <a:rPr sz="2000" dirty="0"/>
              <a:t> Not static - they vary significantly over time</a:t>
            </a:r>
          </a:p>
          <a:p>
            <a:pPr marL="342900" lvl="0" indent="-342900">
              <a:buAutoNum type="arabicPeriod"/>
            </a:pPr>
            <a:r>
              <a:rPr sz="2000" b="1" dirty="0"/>
              <a:t>Regime Indicators Work:</a:t>
            </a:r>
            <a:r>
              <a:rPr sz="2000" dirty="0"/>
              <a:t> Changes in correlations can signal market regime shifts</a:t>
            </a:r>
          </a:p>
          <a:p>
            <a:pPr marL="342900" lvl="0" indent="-342900">
              <a:buAutoNum type="arabicPeriod"/>
            </a:pPr>
            <a:r>
              <a:rPr sz="2000" b="1" dirty="0"/>
              <a:t>Crisis Behavior:</a:t>
            </a:r>
            <a:r>
              <a:rPr sz="2000" dirty="0"/>
              <a:t> Correlations spike during market stress, reducing diversification benefits</a:t>
            </a:r>
          </a:p>
          <a:p>
            <a:pPr marL="342900" lvl="0" indent="-342900">
              <a:buAutoNum type="arabicPeriod"/>
            </a:pPr>
            <a:r>
              <a:rPr sz="2000" b="1" dirty="0"/>
              <a:t>Crypto Evolution:</a:t>
            </a:r>
            <a:r>
              <a:rPr sz="2000" dirty="0"/>
              <a:t> Cryptocurrencies show both similarities and differences to traditional assets</a:t>
            </a:r>
          </a:p>
          <a:p>
            <a:pPr marL="342900" lvl="0" indent="-342900">
              <a:buAutoNum type="arabicPeriod"/>
            </a:pPr>
            <a:r>
              <a:rPr sz="2000" b="1" dirty="0"/>
              <a:t>Practical Value:</a:t>
            </a:r>
            <a:r>
              <a:rPr sz="2000" dirty="0"/>
              <a:t> This analysis can inform investment and risk management decisions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7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4866</Words>
  <Application>Microsoft Office PowerPoint</Application>
  <PresentationFormat>On-screen Show (16:9)</PresentationFormat>
  <Paragraphs>635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Courier</vt:lpstr>
      <vt:lpstr>Office Theme</vt:lpstr>
      <vt:lpstr>Cryptocurrency-Commodity Correlation as a Market Regime Indicator</vt:lpstr>
      <vt:lpstr>Title Slide</vt:lpstr>
      <vt:lpstr>Introduction</vt:lpstr>
      <vt:lpstr>Introduction (continued)</vt:lpstr>
      <vt:lpstr>Introduction (continued)</vt:lpstr>
      <vt:lpstr>Research Questions</vt:lpstr>
      <vt:lpstr>Dataset Description</vt:lpstr>
      <vt:lpstr>Dataset Description (continued)</vt:lpstr>
      <vt:lpstr>Dataset Description (continued)</vt:lpstr>
      <vt:lpstr>Summary Statistics</vt:lpstr>
      <vt:lpstr>Summary Statistics - Key Observations</vt:lpstr>
      <vt:lpstr>Correlation Analysis</vt:lpstr>
      <vt:lpstr>Correlation Analysis - Key Relationships</vt:lpstr>
      <vt:lpstr>Figure 1: Normalized Price Time Series</vt:lpstr>
      <vt:lpstr>Figure 2: Rolling BTC-Gold Correlation</vt:lpstr>
      <vt:lpstr>Figure 3: Rolling BTC-Oil Correlation</vt:lpstr>
      <vt:lpstr>Figure 4: Return Distributions</vt:lpstr>
      <vt:lpstr>Figure 5: Correlation Evolution Heatmap</vt:lpstr>
      <vt:lpstr>Methods Implemented</vt:lpstr>
      <vt:lpstr>Methods Implemented (continued)</vt:lpstr>
      <vt:lpstr>Key Findings</vt:lpstr>
      <vt:lpstr>Key Findings (continued)</vt:lpstr>
      <vt:lpstr>Issues Encountered</vt:lpstr>
      <vt:lpstr>Next Steps</vt:lpstr>
      <vt:lpstr>Next Steps (continued)</vt:lpstr>
      <vt:lpstr>Next Steps (continued)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Cryptocurrency-Commodity Correlation as a Market Regime Indicator</dc:title>
  <dc:creator>Group 7: Jhanvi Damwani, Saketh Kanchi, Ajith Shetty</dc:creator>
  <cp:keywords/>
  <cp:lastModifiedBy>Saketh Kanchi</cp:lastModifiedBy>
  <cp:revision>17</cp:revision>
  <dcterms:created xsi:type="dcterms:W3CDTF">2025-11-21T03:18:02Z</dcterms:created>
  <dcterms:modified xsi:type="dcterms:W3CDTF">2025-11-23T19:46:26Z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output">
    <vt:lpwstr/>
  </property>
  <property fmtid="{D5CDD505-2E9C-101B-9397-08002B2CF9AE}" pid="4" name="subtitle">
    <vt:lpwstr>Progress Report Presentation</vt:lpwstr>
  </property>
</Properties>
</file>