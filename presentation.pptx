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9" r:id="rId22"/>
    <p:sldId id="281" r:id="rId23"/>
    <p:sldId id="283" r:id="rId24"/>
    <p:sldId id="285" r:id="rId25"/>
    <p:sldId id="286" r:id="rId26"/>
    <p:sldId id="287" r:id="rId27"/>
    <p:sldId id="288" r:id="rId28"/>
    <p:sldId id="289" r:id="rId29"/>
    <p:sldId id="291" r:id="rId30"/>
    <p:sldId id="293" r:id="rId31"/>
    <p:sldId id="294" r:id="rId32"/>
    <p:sldId id="303" r:id="rId33"/>
    <p:sldId id="295" r:id="rId34"/>
    <p:sldId id="297" r:id="rId35"/>
    <p:sldId id="299" r:id="rId36"/>
    <p:sldId id="301" r:id="rId37"/>
    <p:sldId id="302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91" d="100"/>
          <a:sy n="91" d="100"/>
        </p:scale>
        <p:origin x="520" y="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Cryptocurrency-Commodity Correlation as a Market Regime Indicator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Progress Report Presentation</a:t>
            </a:r>
            <a:br>
              <a:rPr dirty="0"/>
            </a:br>
            <a:br>
              <a:rPr dirty="0"/>
            </a:br>
            <a:r>
              <a:rPr dirty="0"/>
              <a:t>Group 7: Jhanvi </a:t>
            </a:r>
            <a:r>
              <a:rPr dirty="0" err="1"/>
              <a:t>Damwani</a:t>
            </a:r>
            <a:r>
              <a:rPr dirty="0"/>
              <a:t>, Saketh Kanchi, Ajith </a:t>
            </a:r>
            <a:r>
              <a:rPr lang="en-US"/>
              <a:t>Gangis</a:t>
            </a:r>
            <a:r>
              <a:t>hetty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Cryptocurrency-Commodity Correlation as a Market Regime 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Progress Report</a:t>
            </a:r>
          </a:p>
          <a:p>
            <a:pPr marL="0" lvl="0" indent="0">
              <a:buNone/>
            </a:pPr>
            <a:r>
              <a:rPr sz="2000" b="1" dirty="0"/>
              <a:t>Group 7:</a:t>
            </a:r>
            <a:r>
              <a:rPr sz="2000" dirty="0"/>
              <a:t> Jhanvi </a:t>
            </a:r>
            <a:r>
              <a:rPr sz="2000" dirty="0" err="1"/>
              <a:t>Damwani</a:t>
            </a:r>
            <a:r>
              <a:rPr sz="2000" dirty="0"/>
              <a:t>, Saketh Kanchi, Ajith Shetty</a:t>
            </a:r>
            <a:br>
              <a:rPr sz="2000" dirty="0"/>
            </a:br>
            <a:r>
              <a:rPr sz="2000" b="1" dirty="0"/>
              <a:t>Course:</a:t>
            </a:r>
            <a:r>
              <a:rPr sz="2000" dirty="0"/>
              <a:t> FA-582, Fall 2025</a:t>
            </a:r>
            <a:br>
              <a:rPr sz="2000" dirty="0"/>
            </a:br>
            <a:r>
              <a:rPr sz="2000" b="1" dirty="0"/>
              <a:t>Date:</a:t>
            </a:r>
            <a:r>
              <a:rPr sz="2000" dirty="0"/>
              <a:t> November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Why This Research Matters</a:t>
            </a:r>
          </a:p>
          <a:p>
            <a:pPr lvl="0"/>
            <a:r>
              <a:rPr sz="2000" dirty="0"/>
              <a:t>Cryptocurrencies: niche instruments → </a:t>
            </a:r>
            <a:r>
              <a:rPr sz="2000" b="1" dirty="0"/>
              <a:t>macro-relevant financial assets</a:t>
            </a:r>
          </a:p>
          <a:p>
            <a:pPr lvl="0"/>
            <a:r>
              <a:rPr sz="2000" dirty="0"/>
              <a:t>Understanding crypto-commodity relationships is crucial for:</a:t>
            </a:r>
          </a:p>
          <a:p>
            <a:pPr lvl="1"/>
            <a:r>
              <a:rPr sz="2000" b="1" dirty="0"/>
              <a:t>Portfolio diversification strategies</a:t>
            </a:r>
          </a:p>
          <a:p>
            <a:pPr lvl="1"/>
            <a:r>
              <a:rPr sz="2000" b="1" dirty="0"/>
              <a:t>Risk management decisions</a:t>
            </a:r>
          </a:p>
          <a:p>
            <a:pPr lvl="1"/>
            <a:r>
              <a:rPr sz="2000" b="1" dirty="0"/>
              <a:t>Market regime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Why Gold and Oil?</a:t>
            </a:r>
          </a:p>
          <a:p>
            <a:pPr lvl="0"/>
            <a:r>
              <a:rPr sz="2000" b="1" dirty="0"/>
              <a:t>Gold:</a:t>
            </a:r>
            <a:r>
              <a:rPr sz="2000" dirty="0"/>
              <a:t> Hedge against inflation, store of value during uncertainty</a:t>
            </a:r>
          </a:p>
          <a:p>
            <a:pPr lvl="0"/>
            <a:r>
              <a:rPr sz="2000" b="1" dirty="0"/>
              <a:t>Oil:</a:t>
            </a:r>
            <a:r>
              <a:rPr sz="2000" dirty="0"/>
              <a:t> Reflects real economic activity and demand cycles</a:t>
            </a:r>
          </a:p>
          <a:p>
            <a:pPr lvl="0"/>
            <a:r>
              <a:rPr sz="2000" dirty="0"/>
              <a:t>Both are traditional commodities with well-understood behaviors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Core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000" b="1" dirty="0"/>
              <a:t>Can cryptocurrency-commodity correlations act as market regime indicators?</a:t>
            </a:r>
          </a:p>
          <a:p>
            <a:pPr lvl="0"/>
            <a:r>
              <a:rPr sz="2000" dirty="0"/>
              <a:t>Correlations </a:t>
            </a:r>
            <a:r>
              <a:rPr sz="2000" b="1" dirty="0"/>
              <a:t>rise</a:t>
            </a:r>
            <a:r>
              <a:rPr sz="2000" dirty="0"/>
              <a:t> → crypto perceived as traditional risk asset</a:t>
            </a:r>
          </a:p>
          <a:p>
            <a:pPr lvl="0"/>
            <a:r>
              <a:rPr sz="2000" dirty="0"/>
              <a:t>Correlations </a:t>
            </a:r>
            <a:r>
              <a:rPr sz="2000" b="1" dirty="0"/>
              <a:t>weaken</a:t>
            </a:r>
            <a:r>
              <a:rPr sz="2000" dirty="0"/>
              <a:t> → diversification benefits or independent 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Why This Time Period?</a:t>
            </a:r>
          </a:p>
          <a:p>
            <a:pPr marL="0" lvl="0" indent="0">
              <a:buNone/>
            </a:pPr>
            <a:r>
              <a:rPr sz="2000" b="1" dirty="0"/>
              <a:t>January 2020 - September 2024</a:t>
            </a:r>
            <a:r>
              <a:rPr sz="2000" dirty="0"/>
              <a:t> captures multiple market regimes:</a:t>
            </a:r>
          </a:p>
          <a:p>
            <a:pPr lvl="0"/>
            <a:r>
              <a:rPr sz="2000" b="1" dirty="0"/>
              <a:t>COVID-19 crisis</a:t>
            </a:r>
            <a:r>
              <a:rPr sz="2000" dirty="0"/>
              <a:t> (March 2020)</a:t>
            </a:r>
          </a:p>
          <a:p>
            <a:pPr lvl="0"/>
            <a:r>
              <a:rPr sz="2000" b="1" dirty="0"/>
              <a:t>Bull markets</a:t>
            </a:r>
            <a:r>
              <a:rPr sz="2000" dirty="0"/>
              <a:t> (2021)</a:t>
            </a:r>
          </a:p>
          <a:p>
            <a:pPr lvl="0"/>
            <a:r>
              <a:rPr sz="2000" b="1" dirty="0"/>
              <a:t>2022 crypto winter</a:t>
            </a:r>
          </a:p>
          <a:p>
            <a:pPr lvl="0"/>
            <a:r>
              <a:rPr sz="2000" b="1" dirty="0"/>
              <a:t>Federal Reserve tightening cycle</a:t>
            </a:r>
          </a:p>
          <a:p>
            <a:pPr lvl="0"/>
            <a:r>
              <a:rPr sz="2000" b="1" dirty="0"/>
              <a:t>2023 banking turmoil</a:t>
            </a:r>
          </a:p>
          <a:p>
            <a:pPr marL="0" lvl="0" indent="0">
              <a:buNone/>
            </a:pPr>
            <a:r>
              <a:rPr sz="2000" dirty="0"/>
              <a:t>→ </a:t>
            </a:r>
            <a:r>
              <a:rPr sz="2000" b="1" dirty="0"/>
              <a:t>Natural experiments</a:t>
            </a:r>
            <a:r>
              <a:rPr sz="2000" dirty="0"/>
              <a:t> to study relationships under different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Four Key Research Questions</a:t>
            </a:r>
          </a:p>
          <a:p>
            <a:pPr marL="0" lvl="0" indent="0">
              <a:buNone/>
            </a:pPr>
            <a:r>
              <a:rPr sz="2000" b="1" dirty="0"/>
              <a:t>RQ1:</a:t>
            </a:r>
            <a:r>
              <a:rPr sz="2000" dirty="0"/>
              <a:t> How do correlations between cryptocurrencies (Bitcoin, Ethereum) and commodities (gold, oil) vary across different market regimes?</a:t>
            </a:r>
          </a:p>
          <a:p>
            <a:pPr marL="0" lvl="0" indent="0">
              <a:buNone/>
            </a:pPr>
            <a:r>
              <a:rPr sz="2000" b="1" dirty="0"/>
              <a:t>RQ2:</a:t>
            </a:r>
            <a:r>
              <a:rPr sz="2000" dirty="0"/>
              <a:t> Can changes in cryptocurrency-commodity correlations serve as indicators of market stress and regime shifts?</a:t>
            </a:r>
          </a:p>
          <a:p>
            <a:pPr marL="0" lvl="0" indent="0">
              <a:buNone/>
            </a:pPr>
            <a:r>
              <a:rPr sz="2000" b="1" dirty="0"/>
              <a:t>RQ3:</a:t>
            </a:r>
            <a:r>
              <a:rPr sz="2000" dirty="0"/>
              <a:t> Do Bitcoin and Ethereum exhibit different correlation patterns with gold and oil?</a:t>
            </a:r>
          </a:p>
          <a:p>
            <a:pPr marL="0" lvl="0" indent="0">
              <a:buNone/>
            </a:pPr>
            <a:r>
              <a:rPr sz="2000" b="1" dirty="0"/>
              <a:t>RQ4:</a:t>
            </a:r>
            <a:r>
              <a:rPr sz="2000" dirty="0"/>
              <a:t> What correlation thresholds signal transitions between risk-on and risk-off regimes?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Data Source</a:t>
            </a:r>
          </a:p>
          <a:p>
            <a:pPr lvl="0"/>
            <a:r>
              <a:rPr sz="2000" b="1" dirty="0"/>
              <a:t>Source:</a:t>
            </a:r>
            <a:r>
              <a:rPr sz="2000" dirty="0"/>
              <a:t> Yahoo Finance API</a:t>
            </a:r>
          </a:p>
          <a:p>
            <a:pPr lvl="0"/>
            <a:r>
              <a:rPr sz="2000" b="1" dirty="0"/>
              <a:t>Time Period:</a:t>
            </a:r>
            <a:r>
              <a:rPr sz="2000" dirty="0"/>
              <a:t> January 1, 2020 - September 30, 2024</a:t>
            </a:r>
          </a:p>
          <a:p>
            <a:pPr lvl="0"/>
            <a:r>
              <a:rPr sz="2000" b="1" dirty="0"/>
              <a:t>Observations:</a:t>
            </a:r>
            <a:r>
              <a:rPr sz="2000" dirty="0"/>
              <a:t> ~1,200 daily observations per asset</a:t>
            </a:r>
          </a:p>
          <a:p>
            <a:pPr lvl="0"/>
            <a:r>
              <a:rPr sz="2000" b="1" dirty="0"/>
              <a:t>Frequency:</a:t>
            </a:r>
            <a:r>
              <a:rPr sz="2000" dirty="0"/>
              <a:t> Daily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Assets Analyzed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Bitcoin (BTC-USD):</a:t>
            </a:r>
            <a:r>
              <a:rPr sz="2000" dirty="0"/>
              <a:t> Largest cryptocurrency by market cap</a:t>
            </a:r>
          </a:p>
          <a:p>
            <a:pPr lvl="0"/>
            <a:r>
              <a:rPr sz="2000" b="1" dirty="0"/>
              <a:t>Ethereum (ETH-USD):</a:t>
            </a:r>
            <a:r>
              <a:rPr sz="2000" dirty="0"/>
              <a:t> Second-largest, smart contract platform</a:t>
            </a:r>
          </a:p>
          <a:p>
            <a:pPr lvl="0"/>
            <a:r>
              <a:rPr sz="2000" b="1" dirty="0"/>
              <a:t>Gold Futures (GC=F):</a:t>
            </a:r>
            <a:r>
              <a:rPr sz="2000" dirty="0"/>
              <a:t> Traditional safe-haven asset</a:t>
            </a:r>
          </a:p>
          <a:p>
            <a:pPr lvl="0"/>
            <a:r>
              <a:rPr sz="2000" b="1" dirty="0"/>
              <a:t>Crude Oil Futures (CL=F):</a:t>
            </a:r>
            <a:r>
              <a:rPr sz="2000" dirty="0"/>
              <a:t> WTI crude oil, economic indicator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529637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300" b="0" dirty="0"/>
              <a:t>Dataset Description (continued)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329612" cy="438149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dirty="0"/>
              <a:t>Derived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28288"/>
              </p:ext>
            </p:extLst>
          </p:nvPr>
        </p:nvGraphicFramePr>
        <p:xfrm>
          <a:off x="2019300" y="1681044"/>
          <a:ext cx="510540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Log Returns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ln(Price_t / Price_t-1) - ensures stationarity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Rolling Correlations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90-day rolling correlation between asset pairs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Rolling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30-day rolling standard deviation of returns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Normalized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Price normalized to base 100 at start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Dataset Description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Preprocessing Steps</a:t>
            </a:r>
          </a:p>
          <a:p>
            <a:pPr marL="342900" lvl="0" indent="-342900">
              <a:buAutoNum type="arabicPeriod"/>
            </a:pPr>
            <a:r>
              <a:rPr sz="2000" b="1" dirty="0"/>
              <a:t>Handle missing values:</a:t>
            </a:r>
            <a:r>
              <a:rPr sz="2000" dirty="0"/>
              <a:t> Forward-fill for commodity weekend gaps</a:t>
            </a:r>
          </a:p>
          <a:p>
            <a:pPr lvl="1"/>
            <a:r>
              <a:rPr sz="2000" dirty="0"/>
              <a:t>Crypto trades 24/7, commodities trade weekdays only</a:t>
            </a:r>
          </a:p>
          <a:p>
            <a:pPr marL="342900" lvl="0" indent="-342900">
              <a:buAutoNum type="arabicPeriod"/>
            </a:pPr>
            <a:r>
              <a:rPr sz="2000" b="1" dirty="0"/>
              <a:t>Align trading calendars:</a:t>
            </a:r>
            <a:r>
              <a:rPr sz="2000" dirty="0"/>
              <a:t> Merge on common dates</a:t>
            </a:r>
          </a:p>
          <a:p>
            <a:pPr marL="342900" lvl="0" indent="-342900">
              <a:buAutoNum type="arabicPeriod"/>
            </a:pPr>
            <a:r>
              <a:rPr sz="2000" b="1" dirty="0"/>
              <a:t>Use adjusted closing prices:</a:t>
            </a:r>
            <a:r>
              <a:rPr sz="2000" dirty="0"/>
              <a:t> Accounts for corporate actions</a:t>
            </a:r>
          </a:p>
          <a:p>
            <a:pPr marL="342900" lvl="0" indent="-342900">
              <a:buAutoNum type="arabicPeriod"/>
            </a:pPr>
            <a:r>
              <a:rPr sz="2000" b="1" dirty="0"/>
              <a:t>Calculate log returns:</a:t>
            </a:r>
            <a:r>
              <a:rPr sz="2000" dirty="0"/>
              <a:t> Ensures stationarity for correlation analysis</a:t>
            </a:r>
          </a:p>
          <a:p>
            <a:pPr marL="342900" lvl="0" indent="-342900">
              <a:buAutoNum type="arabicPeriod"/>
            </a:pPr>
            <a:r>
              <a:rPr sz="2000" b="1" dirty="0"/>
              <a:t>Identify outliers:</a:t>
            </a:r>
            <a:r>
              <a:rPr sz="2000" dirty="0"/>
              <a:t> Document extreme price movements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Summary Statistics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386774"/>
              </p:ext>
            </p:extLst>
          </p:nvPr>
        </p:nvGraphicFramePr>
        <p:xfrm>
          <a:off x="476250" y="1828800"/>
          <a:ext cx="81915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dirty="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Mean Return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Std Dev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Skewness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Kurtosis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Bitcoin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21.49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4.46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17.26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6.74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t>Crude 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3.19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t>-3.80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dirty="0"/>
                        <a:t>94.45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542925" y="78700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dirty="0">
                <a:latin typeface="+mn-lt"/>
              </a:rPr>
              <a:t>Descriptive Statistics for Daily Returns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 Statistics - 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Volatility Hierarchy</a:t>
            </a:r>
          </a:p>
          <a:p>
            <a:pPr marL="0" lvl="0" indent="0">
              <a:buNone/>
            </a:pPr>
            <a:r>
              <a:rPr sz="2000" b="1" dirty="0"/>
              <a:t>Cryptocurrencies:</a:t>
            </a:r>
            <a:r>
              <a:rPr sz="2000" dirty="0"/>
              <a:t> 3-4x higher volatility than commodities - Bitcoin: 3.45% | Ethereum: 4.46%</a:t>
            </a:r>
          </a:p>
          <a:p>
            <a:pPr marL="0" lvl="0" indent="0">
              <a:buNone/>
            </a:pPr>
            <a:r>
              <a:rPr sz="2000" b="1" dirty="0"/>
              <a:t>Commodities:</a:t>
            </a:r>
            <a:r>
              <a:rPr sz="2000" dirty="0"/>
              <a:t> Lower volatility - Gold: 0.85% | Oil: 3.19%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Distribution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Fat Tails:</a:t>
            </a:r>
            <a:r>
              <a:rPr sz="2000" dirty="0"/>
              <a:t> All assets show excess kurtosis (&gt;3)</a:t>
            </a:r>
          </a:p>
          <a:p>
            <a:pPr lvl="0"/>
            <a:r>
              <a:rPr sz="2000" b="1" dirty="0"/>
              <a:t>Negative Skewness:</a:t>
            </a:r>
            <a:r>
              <a:rPr sz="2000" dirty="0"/>
              <a:t> Larger downside moves than upside moves</a:t>
            </a:r>
          </a:p>
          <a:p>
            <a:pPr lvl="0"/>
            <a:r>
              <a:rPr sz="2000" b="1" dirty="0"/>
              <a:t>Not normally distributed:</a:t>
            </a:r>
            <a:r>
              <a:rPr sz="2000" dirty="0"/>
              <a:t> Need robust statistical methods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072437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300" b="0" dirty="0"/>
              <a:t>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8072437" cy="404811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dirty="0"/>
              <a:t>Static Correlation Matrix (Full Sample Period)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913293"/>
              </p:ext>
            </p:extLst>
          </p:nvPr>
        </p:nvGraphicFramePr>
        <p:xfrm>
          <a:off x="1334925" y="1892498"/>
          <a:ext cx="6474150" cy="1893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4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738">
                <a:tc>
                  <a:txBody>
                    <a:bodyPr/>
                    <a:lstStyle/>
                    <a:p>
                      <a:endParaRPr sz="1700"/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 dirty="0"/>
                        <a:t>Bitcoin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Ethereum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Gold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Oil</a:t>
                      </a:r>
                    </a:p>
                  </a:txBody>
                  <a:tcPr marL="116535" marR="116535" marT="58267" marB="582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73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Bitcoin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0.10</a:t>
                      </a:r>
                    </a:p>
                  </a:txBody>
                  <a:tcPr marL="116535" marR="116535" marT="58267" marB="582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3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Ethereum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0.83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0.09</a:t>
                      </a:r>
                    </a:p>
                  </a:txBody>
                  <a:tcPr marL="116535" marR="116535" marT="58267" marB="582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73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Gold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0.12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1.00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0.14</a:t>
                      </a:r>
                    </a:p>
                  </a:txBody>
                  <a:tcPr marL="116535" marR="116535" marT="58267" marB="582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738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Oil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sz="1700"/>
                        <a:t>0.10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0.09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/>
                        <a:t>0.14</a:t>
                      </a:r>
                    </a:p>
                  </a:txBody>
                  <a:tcPr marL="116535" marR="116535" marT="58267" marB="58267"/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 sz="1700" dirty="0"/>
                        <a:t>1.00</a:t>
                      </a:r>
                    </a:p>
                  </a:txBody>
                  <a:tcPr marL="116535" marR="116535" marT="58267" marB="582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Correlation Analysis - Key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Strong Crypto-Crypto Correlation</a:t>
            </a:r>
          </a:p>
          <a:p>
            <a:pPr marL="0" lvl="0" indent="0">
              <a:buNone/>
            </a:pPr>
            <a:r>
              <a:rPr sz="2000" b="1" dirty="0"/>
              <a:t>Bitcoin-Ethereum:</a:t>
            </a:r>
            <a:r>
              <a:rPr sz="2000" dirty="0"/>
              <a:t> 0.83 - Respond similarly to market forces - Share common drivers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Weak Crypto-Commodity Correlations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BTC-Gold:</a:t>
            </a:r>
            <a:r>
              <a:rPr sz="2000" dirty="0"/>
              <a:t> 0.12 | </a:t>
            </a:r>
            <a:r>
              <a:rPr sz="2000" b="1" dirty="0"/>
              <a:t>ETH-Gold:</a:t>
            </a:r>
            <a:r>
              <a:rPr sz="2000" dirty="0"/>
              <a:t> 0.12</a:t>
            </a:r>
          </a:p>
          <a:p>
            <a:pPr lvl="0"/>
            <a:r>
              <a:rPr sz="2000" b="1" dirty="0"/>
              <a:t>BTC-Oil:</a:t>
            </a:r>
            <a:r>
              <a:rPr sz="2000" dirty="0"/>
              <a:t> 0.1 | </a:t>
            </a:r>
            <a:r>
              <a:rPr sz="2000" b="1" dirty="0"/>
              <a:t>ETH-Oil:</a:t>
            </a:r>
            <a:r>
              <a:rPr sz="2000" dirty="0"/>
              <a:t> 0.09</a:t>
            </a:r>
          </a:p>
          <a:p>
            <a:pPr lvl="0"/>
            <a:r>
              <a:rPr sz="2000" b="1" dirty="0"/>
              <a:t>On average:</a:t>
            </a:r>
            <a:r>
              <a:rPr sz="2000" dirty="0"/>
              <a:t> Low correlations suggest diversification benefits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Time-Varying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Static correlations mask important dynamics!</a:t>
            </a:r>
          </a:p>
          <a:p>
            <a:pPr lvl="0"/>
            <a:r>
              <a:rPr sz="2000" dirty="0"/>
              <a:t>BTC-Gold correlation ranges: </a:t>
            </a:r>
            <a:r>
              <a:rPr sz="2000" b="1" dirty="0"/>
              <a:t>-0.24 to 0.54</a:t>
            </a:r>
          </a:p>
          <a:p>
            <a:pPr lvl="0"/>
            <a:r>
              <a:rPr sz="2000" b="1" dirty="0"/>
              <a:t>This 0.78 range confirms regime-dependent behavior!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Figure 1: Normalized Price Time Series</a:t>
            </a:r>
          </a:p>
        </p:txBody>
      </p:sp>
      <p:pic>
        <p:nvPicPr>
          <p:cNvPr id="3" name="Picture 1" descr="presentation_files/figure-pptx/fig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1012" y="986058"/>
            <a:ext cx="5641975" cy="317138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EE32C2-6BA5-F37B-92D7-7F50C3769CAC}"/>
              </a:ext>
            </a:extLst>
          </p:cNvPr>
          <p:cNvSpPr txBox="1"/>
          <p:nvPr/>
        </p:nvSpPr>
        <p:spPr>
          <a:xfrm>
            <a:off x="457199" y="4429422"/>
            <a:ext cx="8634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b="1" dirty="0"/>
              <a:t>Key Observation:</a:t>
            </a:r>
            <a:r>
              <a:rPr lang="en-US" dirty="0"/>
              <a:t> Crypto assets show dramatic price appreciation and volatility compared to commodities.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2: Rolling BTC-Gold Correlation</a:t>
            </a:r>
          </a:p>
        </p:txBody>
      </p:sp>
      <p:pic>
        <p:nvPicPr>
          <p:cNvPr id="3" name="Picture 1" descr="presentation_files/figure-pptx/fig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12900" y="908424"/>
            <a:ext cx="5918200" cy="332665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69069" y="4314825"/>
            <a:ext cx="8805862" cy="4143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Key Finding:</a:t>
            </a:r>
            <a:r>
              <a:rPr sz="1800" dirty="0"/>
              <a:t> Correlation spikes during crisis periods, confirming regime-dependent behavior.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3: Rolling BTC-Oil Correlation</a:t>
            </a:r>
          </a:p>
        </p:txBody>
      </p:sp>
      <p:pic>
        <p:nvPicPr>
          <p:cNvPr id="3" name="Picture 1" descr="presentation_files/figure-pptx/fig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587875"/>
            <a:ext cx="8229600" cy="4524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Key Finding:</a:t>
            </a:r>
            <a:r>
              <a:rPr sz="1800" dirty="0"/>
              <a:t> More volatile than BTC-Gold, reflecting economic cycle sensitivity.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4: Return Distributions</a:t>
            </a:r>
          </a:p>
        </p:txBody>
      </p:sp>
      <p:pic>
        <p:nvPicPr>
          <p:cNvPr id="3" name="Picture 1" descr="presentation_files/figure-pptx/fig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66763" y="4638676"/>
            <a:ext cx="8229600" cy="40481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Key Observation:</a:t>
            </a:r>
            <a:r>
              <a:rPr sz="1800" dirty="0"/>
              <a:t> All distributions show fat tails and negative skewness.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Figure 5: Correlation Evolution Heatmap</a:t>
            </a:r>
          </a:p>
        </p:txBody>
      </p:sp>
      <p:pic>
        <p:nvPicPr>
          <p:cNvPr id="3" name="Picture 1" descr="presentation_files/figure-pptx/fig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2100" y="1193800"/>
            <a:ext cx="6032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4584700"/>
            <a:ext cx="8229600" cy="41909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800" b="1" dirty="0"/>
              <a:t>Key Observation:</a:t>
            </a:r>
            <a:r>
              <a:rPr sz="1800" dirty="0"/>
              <a:t> Clear time-varying patterns across quarters.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1. Rolling Correlation Analysis</a:t>
            </a:r>
          </a:p>
          <a:p>
            <a:pPr lvl="0"/>
            <a:r>
              <a:rPr sz="2000" dirty="0"/>
              <a:t>Multiple window sizes: </a:t>
            </a:r>
            <a:r>
              <a:rPr sz="2000" b="1" dirty="0"/>
              <a:t>30, 60, 90, and 180 days</a:t>
            </a:r>
          </a:p>
          <a:p>
            <a:pPr lvl="0"/>
            <a:r>
              <a:rPr sz="2000" b="1" dirty="0"/>
              <a:t>90-day window</a:t>
            </a:r>
            <a:r>
              <a:rPr sz="2000" dirty="0"/>
              <a:t> is primary measure (balances stability and responsiveness)</a:t>
            </a:r>
          </a:p>
          <a:p>
            <a:pPr lvl="0"/>
            <a:r>
              <a:rPr sz="2000" dirty="0"/>
              <a:t>Calculated for all asset pairs:</a:t>
            </a:r>
          </a:p>
          <a:p>
            <a:pPr lvl="1"/>
            <a:r>
              <a:rPr sz="2000" dirty="0"/>
              <a:t>BTC-Gold, BTC-Oil</a:t>
            </a:r>
          </a:p>
          <a:p>
            <a:pPr lvl="1"/>
            <a:r>
              <a:rPr sz="2000" dirty="0"/>
              <a:t>ETH-Gold, ETH-Oil</a:t>
            </a:r>
          </a:p>
          <a:p>
            <a:pPr lvl="1"/>
            <a:r>
              <a:rPr sz="2000" dirty="0"/>
              <a:t>BTC-ETH (for comparison)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Alternative Correlation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b="1" dirty="0"/>
              <a:t>Spearman rank correlations:</a:t>
            </a:r>
            <a:r>
              <a:rPr sz="2000" dirty="0"/>
              <a:t> Less sensitive to outliers</a:t>
            </a:r>
          </a:p>
          <a:p>
            <a:pPr lvl="0"/>
            <a:r>
              <a:rPr sz="2000" dirty="0"/>
              <a:t>Provides robustness check</a:t>
            </a:r>
          </a:p>
          <a:p>
            <a:pPr lvl="0"/>
            <a:r>
              <a:rPr sz="2000" dirty="0"/>
              <a:t>Results consistent with Pearson correlations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Methods Implemented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3. Statistical Testing</a:t>
            </a:r>
          </a:p>
          <a:p>
            <a:pPr lvl="0"/>
            <a:r>
              <a:rPr sz="2000" b="1" dirty="0"/>
              <a:t>Augmented Dickey-Fuller (ADF) tests:</a:t>
            </a:r>
            <a:r>
              <a:rPr sz="2000" dirty="0"/>
              <a:t> Verify stationarity</a:t>
            </a:r>
          </a:p>
          <a:p>
            <a:pPr lvl="0"/>
            <a:r>
              <a:rPr sz="2000" dirty="0"/>
              <a:t>All return series are </a:t>
            </a:r>
            <a:r>
              <a:rPr sz="2000" b="1" dirty="0"/>
              <a:t>stationary</a:t>
            </a:r>
            <a:r>
              <a:rPr sz="2000" dirty="0"/>
              <a:t> (p &lt; 0.05)</a:t>
            </a:r>
          </a:p>
          <a:p>
            <a:pPr lvl="0"/>
            <a:r>
              <a:rPr sz="2000" dirty="0"/>
              <a:t>Validates our correlation analysis methodology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Preliminary Regime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sz="2000" dirty="0"/>
              <a:t>Threshold-based classification:</a:t>
            </a:r>
          </a:p>
          <a:p>
            <a:pPr lvl="1"/>
            <a:r>
              <a:rPr sz="2000" b="1" dirty="0"/>
              <a:t>High Positive (&gt;0.3):</a:t>
            </a:r>
            <a:r>
              <a:rPr sz="2000" dirty="0"/>
              <a:t> Strong coupling, risk-on</a:t>
            </a:r>
          </a:p>
          <a:p>
            <a:pPr lvl="1"/>
            <a:r>
              <a:rPr sz="2000" b="1" dirty="0"/>
              <a:t>Moderate Positive (0.1-0.3):</a:t>
            </a:r>
            <a:r>
              <a:rPr sz="2000" dirty="0"/>
              <a:t> Some coupling</a:t>
            </a:r>
          </a:p>
          <a:p>
            <a:pPr lvl="1"/>
            <a:r>
              <a:rPr sz="2000" b="1" dirty="0"/>
              <a:t>Low (-0.1 to 0.1):</a:t>
            </a:r>
            <a:r>
              <a:rPr sz="2000" dirty="0"/>
              <a:t> Independent movement</a:t>
            </a:r>
          </a:p>
          <a:p>
            <a:pPr lvl="1"/>
            <a:r>
              <a:rPr sz="2000" b="1" dirty="0"/>
              <a:t>Moderate Negative (-0.3 to -0.1):</a:t>
            </a:r>
            <a:r>
              <a:rPr sz="2000" dirty="0"/>
              <a:t> Some decoupling</a:t>
            </a:r>
          </a:p>
          <a:p>
            <a:pPr lvl="1"/>
            <a:r>
              <a:rPr sz="2000" b="1" dirty="0"/>
              <a:t>High Negative (&lt;-0.3):</a:t>
            </a:r>
            <a:r>
              <a:rPr sz="2000" dirty="0"/>
              <a:t> Strong decoupling, risk-off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686174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Finding 1: Time-Varying Correlations</a:t>
            </a:r>
          </a:p>
          <a:p>
            <a:pPr lvl="0"/>
            <a:r>
              <a:rPr sz="2000" dirty="0"/>
              <a:t>Rolling correlations show </a:t>
            </a:r>
            <a:r>
              <a:rPr sz="2000" b="1" dirty="0"/>
              <a:t>significant variation</a:t>
            </a:r>
            <a:r>
              <a:rPr sz="2000" dirty="0"/>
              <a:t> over time</a:t>
            </a:r>
          </a:p>
          <a:p>
            <a:pPr lvl="0"/>
            <a:r>
              <a:rPr sz="2000" dirty="0"/>
              <a:t>BTC-Gold correlation ranges: </a:t>
            </a:r>
            <a:r>
              <a:rPr sz="2000" b="1" dirty="0"/>
              <a:t>-0.24 to 0.54</a:t>
            </a:r>
          </a:p>
          <a:p>
            <a:pPr lvl="0"/>
            <a:r>
              <a:rPr sz="2000" b="1" dirty="0"/>
              <a:t>This 0.78 range confirms regime-dependent behavior!</a:t>
            </a:r>
          </a:p>
          <a:p>
            <a:pPr lvl="0"/>
            <a:r>
              <a:rPr sz="2000" dirty="0"/>
              <a:t>Static correlations are misleading</a:t>
            </a: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Finding 2: Crypto-Commodity Relationships</a:t>
            </a:r>
          </a:p>
          <a:p>
            <a:pPr lvl="0"/>
            <a:r>
              <a:rPr lang="en-US" sz="2000" dirty="0"/>
              <a:t>On average, correlations are </a:t>
            </a:r>
            <a:r>
              <a:rPr lang="en-US" sz="2000" b="1" dirty="0"/>
              <a:t>low</a:t>
            </a:r>
            <a:r>
              <a:rPr lang="en-US" sz="2000" dirty="0"/>
              <a:t> (diversification benefits)</a:t>
            </a:r>
          </a:p>
          <a:p>
            <a:pPr lvl="0"/>
            <a:r>
              <a:rPr lang="en-US" sz="2000" b="1" dirty="0"/>
              <a:t>However, correlations increase during market stress</a:t>
            </a:r>
          </a:p>
          <a:p>
            <a:pPr lvl="0"/>
            <a:r>
              <a:rPr lang="en-US" sz="2000" dirty="0"/>
              <a:t>Key insight for regime identification</a:t>
            </a:r>
          </a:p>
          <a:p>
            <a:pPr marL="0" lvl="0" indent="0">
              <a:buNone/>
            </a:pPr>
            <a:endParaRPr sz="2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Findings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Finding 3: Volatility Differences</a:t>
            </a:r>
          </a:p>
          <a:p>
            <a:pPr lvl="0"/>
            <a:r>
              <a:rPr sz="2000" dirty="0"/>
              <a:t>Cryptocurrencies are </a:t>
            </a:r>
            <a:r>
              <a:rPr sz="2000" b="1" dirty="0"/>
              <a:t>3-4x more volatile</a:t>
            </a:r>
            <a:r>
              <a:rPr sz="2000" dirty="0"/>
              <a:t> than commodities</a:t>
            </a:r>
          </a:p>
          <a:p>
            <a:pPr lvl="0"/>
            <a:r>
              <a:rPr sz="2000" dirty="0"/>
              <a:t>Bitcoin: 3.45% vs. Gold: 0.85%</a:t>
            </a:r>
          </a:p>
          <a:p>
            <a:pPr lvl="0"/>
            <a:r>
              <a:rPr sz="2000" dirty="0"/>
              <a:t>Higher risk-return profiles for digital assets</a:t>
            </a:r>
            <a:endParaRPr lang="en-US" sz="2000" dirty="0"/>
          </a:p>
          <a:p>
            <a:pPr marL="0" lvl="0" indent="0">
              <a:buNone/>
            </a:pPr>
            <a:endParaRPr lang="en-US" sz="2000" dirty="0"/>
          </a:p>
          <a:p>
            <a:pPr marL="0" lvl="0" indent="0">
              <a:buNone/>
            </a:pPr>
            <a:r>
              <a:rPr lang="en-US" sz="2000" b="1" dirty="0"/>
              <a:t>Finding 4: Stationarity</a:t>
            </a:r>
          </a:p>
          <a:p>
            <a:pPr lvl="0"/>
            <a:r>
              <a:rPr lang="en-US" sz="2000" dirty="0"/>
              <a:t>All return series are </a:t>
            </a:r>
            <a:r>
              <a:rPr lang="en-US" sz="2000" b="1" dirty="0"/>
              <a:t>stationary</a:t>
            </a:r>
            <a:r>
              <a:rPr lang="en-US" sz="2000" dirty="0"/>
              <a:t> (ADF tests confirmed)</a:t>
            </a:r>
          </a:p>
          <a:p>
            <a:pPr lvl="0"/>
            <a:r>
              <a:rPr lang="en-US" sz="2000" dirty="0"/>
              <a:t>Validates correlation analysis methodology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Key Findings (continued)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Finding 5: Regime Patterns</a:t>
            </a:r>
          </a:p>
          <a:p>
            <a:pPr lvl="0"/>
            <a:r>
              <a:rPr sz="2000" dirty="0"/>
              <a:t>Distinct periods of high and low correlation</a:t>
            </a:r>
          </a:p>
          <a:p>
            <a:pPr lvl="0"/>
            <a:r>
              <a:rPr sz="2000" dirty="0"/>
              <a:t>Correspond to different market regimes</a:t>
            </a:r>
          </a:p>
          <a:p>
            <a:pPr lvl="0"/>
            <a:r>
              <a:rPr sz="2000" dirty="0"/>
              <a:t>Preliminary evidence: correlations can signal regime changes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737370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Technical Challenges</a:t>
            </a:r>
          </a:p>
          <a:p>
            <a:pPr marL="342900" lvl="0" indent="-342900">
              <a:buAutoNum type="arabicPeriod"/>
            </a:pPr>
            <a:r>
              <a:rPr sz="2000" b="1" dirty="0"/>
              <a:t>Trading Calendar Alignment</a:t>
            </a:r>
          </a:p>
          <a:p>
            <a:pPr lvl="1"/>
            <a:r>
              <a:rPr sz="2000" dirty="0"/>
              <a:t>Crypto trades 24/7, commodities trade weekdays only</a:t>
            </a:r>
          </a:p>
          <a:p>
            <a:pPr lvl="1"/>
            <a:r>
              <a:rPr sz="2000" b="1" dirty="0"/>
              <a:t>Solution:</a:t>
            </a:r>
            <a:r>
              <a:rPr sz="2000" dirty="0"/>
              <a:t> Forward-fill weekend values</a:t>
            </a:r>
          </a:p>
          <a:p>
            <a:pPr marL="342900" lvl="0" indent="-342900">
              <a:buAutoNum type="arabicPeriod"/>
            </a:pPr>
            <a:r>
              <a:rPr sz="2000" b="1" dirty="0"/>
              <a:t>Data Availability</a:t>
            </a:r>
          </a:p>
          <a:p>
            <a:pPr lvl="1"/>
            <a:r>
              <a:rPr sz="2000" dirty="0"/>
              <a:t>Missing data due to holidays or feed issues</a:t>
            </a:r>
          </a:p>
          <a:p>
            <a:pPr lvl="1"/>
            <a:r>
              <a:rPr sz="2000" b="1" dirty="0"/>
              <a:t>Solution:</a:t>
            </a:r>
            <a:r>
              <a:rPr sz="2000" dirty="0"/>
              <a:t> Forward-fill methods</a:t>
            </a:r>
          </a:p>
          <a:p>
            <a:pPr marL="342900" lvl="0" indent="-342900">
              <a:buAutoNum type="arabicPeriod"/>
            </a:pPr>
            <a:r>
              <a:rPr sz="2000" b="1" dirty="0"/>
              <a:t>API Rate Limiting</a:t>
            </a:r>
          </a:p>
          <a:p>
            <a:pPr lvl="1"/>
            <a:r>
              <a:rPr sz="2000" dirty="0"/>
              <a:t>Yahoo Finance API rate limits</a:t>
            </a:r>
          </a:p>
          <a:p>
            <a:pPr lvl="1"/>
            <a:r>
              <a:rPr sz="2000" b="1" dirty="0"/>
              <a:t>Solution:</a:t>
            </a:r>
            <a:r>
              <a:rPr sz="2000" dirty="0"/>
              <a:t> Retry logic with delays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3662-9F0B-5AA6-34D1-1EE8C4D8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E8A41-A955-8A9D-71C4-64A826E4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4. Rolling Window Edge Cases</a:t>
            </a:r>
          </a:p>
          <a:p>
            <a:pPr lvl="1"/>
            <a:r>
              <a:rPr lang="en-US" sz="2000" dirty="0"/>
              <a:t>Can’t calculate correlations at start of series</a:t>
            </a:r>
          </a:p>
          <a:p>
            <a:pPr lvl="1"/>
            <a:r>
              <a:rPr lang="en-US" sz="2000" b="1" dirty="0"/>
              <a:t>Solution:</a:t>
            </a:r>
            <a:r>
              <a:rPr lang="en-US" sz="2000" dirty="0"/>
              <a:t> Set initial values to NA, require minimum observations</a:t>
            </a:r>
          </a:p>
          <a:p>
            <a:pPr marL="0" lvl="0" indent="0">
              <a:buNone/>
            </a:pPr>
            <a:r>
              <a:rPr lang="en-US" sz="2000" b="1" dirty="0"/>
              <a:t>5. Computational Efficiency</a:t>
            </a:r>
          </a:p>
          <a:p>
            <a:pPr lvl="1"/>
            <a:r>
              <a:rPr lang="en-US" sz="2000" dirty="0"/>
              <a:t>Many calculations for multiple windows and pairs</a:t>
            </a:r>
          </a:p>
          <a:p>
            <a:pPr lvl="1"/>
            <a:r>
              <a:rPr lang="en-US" sz="2000" b="1" dirty="0"/>
              <a:t>Solution:</a:t>
            </a:r>
            <a:r>
              <a:rPr lang="en-US" sz="2000" dirty="0"/>
              <a:t> Optimized rolling correlation functions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426009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4888"/>
            <a:ext cx="8229600" cy="3589735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1. Advanced Regime Detection</a:t>
            </a:r>
          </a:p>
          <a:p>
            <a:pPr lvl="1"/>
            <a:r>
              <a:rPr sz="1700" dirty="0"/>
              <a:t>Change-point detection algorithms</a:t>
            </a:r>
          </a:p>
          <a:p>
            <a:pPr lvl="1"/>
            <a:r>
              <a:rPr sz="1700" dirty="0"/>
              <a:t>Clustering analysis (K-means, hierarchical)</a:t>
            </a:r>
          </a:p>
          <a:p>
            <a:pPr lvl="1"/>
            <a:r>
              <a:rPr sz="1700" dirty="0"/>
              <a:t>Machine learning approaches for regime classification</a:t>
            </a:r>
            <a:endParaRPr lang="en-US" sz="1700" dirty="0"/>
          </a:p>
          <a:p>
            <a:pPr marL="0" lvl="0" indent="0">
              <a:buNone/>
            </a:pPr>
            <a:r>
              <a:rPr lang="en-US" sz="2000" b="1" dirty="0"/>
              <a:t>2. Event Study Analysis</a:t>
            </a:r>
          </a:p>
          <a:p>
            <a:pPr lvl="1"/>
            <a:r>
              <a:rPr lang="en-US" sz="1700" dirty="0"/>
              <a:t>Detailed analysis around major events:</a:t>
            </a:r>
          </a:p>
          <a:p>
            <a:pPr lvl="2"/>
            <a:r>
              <a:rPr lang="en-US" sz="1700" dirty="0"/>
              <a:t>COVID-19 market crash (March 2020)</a:t>
            </a:r>
          </a:p>
          <a:p>
            <a:pPr lvl="2"/>
            <a:r>
              <a:rPr lang="en-US" sz="1700" dirty="0"/>
              <a:t>Federal Reserve policy announcements</a:t>
            </a:r>
          </a:p>
          <a:p>
            <a:pPr lvl="2"/>
            <a:r>
              <a:rPr lang="en-US" sz="1700" dirty="0"/>
              <a:t>Major crypto events (FTX collapse, ETF approvals)</a:t>
            </a:r>
          </a:p>
          <a:p>
            <a:pPr lvl="2"/>
            <a:r>
              <a:rPr lang="en-US" sz="1700" dirty="0"/>
              <a:t>Analyze correlation behavior using ±30 day event windows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Next Steps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3. Comparative Analysis</a:t>
            </a:r>
          </a:p>
          <a:p>
            <a:pPr lvl="1"/>
            <a:r>
              <a:rPr sz="1700" dirty="0"/>
              <a:t>Deep dive into differences between Bitcoin and Ethereum</a:t>
            </a:r>
          </a:p>
          <a:p>
            <a:pPr lvl="1"/>
            <a:r>
              <a:rPr sz="1700" dirty="0"/>
              <a:t>Statistical tests for significant differences</a:t>
            </a:r>
          </a:p>
          <a:p>
            <a:pPr lvl="1"/>
            <a:r>
              <a:rPr sz="1700" dirty="0"/>
              <a:t>Analysis of potential drivers</a:t>
            </a:r>
            <a:endParaRPr lang="en-US" sz="1700" dirty="0"/>
          </a:p>
          <a:p>
            <a:pPr marL="0" lvl="0" indent="0">
              <a:buNone/>
            </a:pPr>
            <a:r>
              <a:rPr lang="en-US" sz="2000" b="1" dirty="0"/>
              <a:t>4. Advanced Statistical Testing</a:t>
            </a:r>
          </a:p>
          <a:p>
            <a:pPr lvl="1"/>
            <a:r>
              <a:rPr lang="en-US" sz="1700" dirty="0"/>
              <a:t>Correlation stability tests across regimes</a:t>
            </a:r>
          </a:p>
          <a:p>
            <a:pPr lvl="1"/>
            <a:r>
              <a:rPr lang="en-US" sz="1700" dirty="0"/>
              <a:t>Granger causality tests</a:t>
            </a:r>
          </a:p>
          <a:p>
            <a:pPr lvl="1"/>
            <a:r>
              <a:rPr lang="en-US" sz="1700" dirty="0"/>
              <a:t>Cointegration tests</a:t>
            </a:r>
          </a:p>
          <a:p>
            <a:pPr marL="0" lv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Next Steps (continued)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5. Threshold Analysis</a:t>
            </a:r>
          </a:p>
          <a:p>
            <a:pPr lvl="1"/>
            <a:r>
              <a:rPr sz="1700" dirty="0"/>
              <a:t>Determine specific correlation thresholds</a:t>
            </a:r>
          </a:p>
          <a:p>
            <a:pPr lvl="1"/>
            <a:r>
              <a:rPr sz="1700" dirty="0"/>
              <a:t>Use ROC analysis</a:t>
            </a:r>
          </a:p>
          <a:p>
            <a:pPr lvl="1"/>
            <a:r>
              <a:rPr sz="1700" dirty="0" err="1"/>
              <a:t>Backtest</a:t>
            </a:r>
            <a:r>
              <a:rPr sz="1700" dirty="0"/>
              <a:t> regime signals</a:t>
            </a:r>
            <a:endParaRPr lang="en-US" sz="1700" dirty="0"/>
          </a:p>
          <a:p>
            <a:pPr marL="0" indent="0">
              <a:buNone/>
            </a:pPr>
            <a:r>
              <a:rPr lang="en-US" sz="2000" b="1" dirty="0"/>
              <a:t>6. Final Report</a:t>
            </a:r>
          </a:p>
          <a:p>
            <a:pPr lvl="1"/>
            <a:r>
              <a:rPr lang="en-US" sz="1700" dirty="0"/>
              <a:t>Complete analysis of all research questions</a:t>
            </a:r>
          </a:p>
          <a:p>
            <a:pPr lvl="1"/>
            <a:r>
              <a:rPr lang="en-US" sz="1700" dirty="0"/>
              <a:t>Policy and investment implications</a:t>
            </a:r>
          </a:p>
          <a:p>
            <a:pPr lvl="1"/>
            <a:r>
              <a:rPr lang="en-US" sz="1700" dirty="0"/>
              <a:t>Limitations and future research directions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000" b="1" dirty="0"/>
              <a:t>Key Takeaways</a:t>
            </a:r>
          </a:p>
          <a:p>
            <a:pPr marL="342900" lvl="0" indent="-342900">
              <a:buAutoNum type="arabicPeriod"/>
            </a:pPr>
            <a:r>
              <a:rPr sz="2000" b="1" dirty="0"/>
              <a:t>Correlations are Dynamic:</a:t>
            </a:r>
            <a:r>
              <a:rPr sz="2000" dirty="0"/>
              <a:t> Not static - they vary significantly over time</a:t>
            </a:r>
          </a:p>
          <a:p>
            <a:pPr marL="342900" lvl="0" indent="-342900">
              <a:buAutoNum type="arabicPeriod"/>
            </a:pPr>
            <a:r>
              <a:rPr sz="2000" b="1" dirty="0"/>
              <a:t>Regime Indicators Work:</a:t>
            </a:r>
            <a:r>
              <a:rPr sz="2000" dirty="0"/>
              <a:t> Changes in correlations can signal market regime shifts</a:t>
            </a:r>
          </a:p>
          <a:p>
            <a:pPr marL="342900" lvl="0" indent="-342900">
              <a:buAutoNum type="arabicPeriod"/>
            </a:pPr>
            <a:r>
              <a:rPr sz="2000" b="1" dirty="0"/>
              <a:t>Crisis Behavior:</a:t>
            </a:r>
            <a:r>
              <a:rPr sz="2000" dirty="0"/>
              <a:t> Correlations spike during market stress, reducing diversification benefits</a:t>
            </a:r>
          </a:p>
          <a:p>
            <a:pPr marL="342900" lvl="0" indent="-342900">
              <a:buAutoNum type="arabicPeriod"/>
            </a:pPr>
            <a:r>
              <a:rPr sz="2000" b="1" dirty="0"/>
              <a:t>Crypto Evolution:</a:t>
            </a:r>
            <a:r>
              <a:rPr sz="2000" dirty="0"/>
              <a:t> Cryptocurrencies show both similarities and differences to traditional assets</a:t>
            </a:r>
          </a:p>
          <a:p>
            <a:pPr marL="342900" lvl="0" indent="-342900">
              <a:buAutoNum type="arabicPeriod"/>
            </a:pPr>
            <a:r>
              <a:rPr sz="2000" b="1" dirty="0"/>
              <a:t>Practical Value:</a:t>
            </a:r>
            <a:r>
              <a:rPr sz="2000" dirty="0"/>
              <a:t> This analysis can inform investment and risk management decisions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25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1358</Words>
  <Application>Microsoft Office PowerPoint</Application>
  <PresentationFormat>On-screen Show (16:9)</PresentationFormat>
  <Paragraphs>254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Cryptocurrency-Commodity Correlation as a Market Regime Indicator</vt:lpstr>
      <vt:lpstr>Cryptocurrency-Commodity Correlation as a Market Regime Indicator</vt:lpstr>
      <vt:lpstr>Introduction</vt:lpstr>
      <vt:lpstr>Introduction (continued)</vt:lpstr>
      <vt:lpstr>Core Research Question</vt:lpstr>
      <vt:lpstr>Introduction (continued)</vt:lpstr>
      <vt:lpstr>Research Questions</vt:lpstr>
      <vt:lpstr>Dataset Description</vt:lpstr>
      <vt:lpstr>Assets Analyzed</vt:lpstr>
      <vt:lpstr>Dataset Description (continued)</vt:lpstr>
      <vt:lpstr>Dataset Description (continued)</vt:lpstr>
      <vt:lpstr>Summary Statistics</vt:lpstr>
      <vt:lpstr>Summary Statistics - Key Observations</vt:lpstr>
      <vt:lpstr>Distribution Characteristics</vt:lpstr>
      <vt:lpstr>Correlation Analysis</vt:lpstr>
      <vt:lpstr>Correlation Analysis - Key Relationships</vt:lpstr>
      <vt:lpstr>Weak Crypto-Commodity Correlations</vt:lpstr>
      <vt:lpstr>Time-Varying Patterns</vt:lpstr>
      <vt:lpstr>Figure 1: Normalized Price Time Series</vt:lpstr>
      <vt:lpstr>Figure 2: Rolling BTC-Gold Correlation</vt:lpstr>
      <vt:lpstr>Figure 3: Rolling BTC-Oil Correlation</vt:lpstr>
      <vt:lpstr>Figure 4: Return Distributions</vt:lpstr>
      <vt:lpstr>Figure 5: Correlation Evolution Heatmap</vt:lpstr>
      <vt:lpstr>Methods Implemented</vt:lpstr>
      <vt:lpstr>2. Alternative Correlation Measures</vt:lpstr>
      <vt:lpstr>Methods Implemented (continued)</vt:lpstr>
      <vt:lpstr>4. Preliminary Regime Identification</vt:lpstr>
      <vt:lpstr>Key Findings</vt:lpstr>
      <vt:lpstr>Key Findings (continued)</vt:lpstr>
      <vt:lpstr>Key Findings (continued)</vt:lpstr>
      <vt:lpstr>Issues Encountered</vt:lpstr>
      <vt:lpstr>Issues Encountered</vt:lpstr>
      <vt:lpstr>Next Steps</vt:lpstr>
      <vt:lpstr>Next Steps (continued)</vt:lpstr>
      <vt:lpstr>Next Steps (continued)</vt:lpstr>
      <vt:lpstr>Conclusions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Cryptocurrency-Commodity Correlation as a Market Regime Indicator</dc:title>
  <dc:creator>Group 7: Jhanvi Damwani, Saketh Kanchi, Ajith Shetty</dc:creator>
  <cp:keywords/>
  <cp:lastModifiedBy>Saketh Kanchi</cp:lastModifiedBy>
  <cp:revision>6</cp:revision>
  <dcterms:created xsi:type="dcterms:W3CDTF">2025-11-23T19:34:06Z</dcterms:created>
  <dcterms:modified xsi:type="dcterms:W3CDTF">2025-11-26T00:02:48Z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November 2025</vt:lpwstr>
  </property>
  <property fmtid="{D5CDD505-2E9C-101B-9397-08002B2CF9AE}" pid="3" name="output">
    <vt:lpwstr/>
  </property>
  <property fmtid="{D5CDD505-2E9C-101B-9397-08002B2CF9AE}" pid="4" name="subtitle">
    <vt:lpwstr>Progress Report Presentation</vt:lpwstr>
  </property>
</Properties>
</file>