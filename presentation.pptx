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Cryptocurrency-Commodity Correlation as a Market Regime Indicator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Project Presentation</a:t>
            </a:r>
            <a:br/>
            <a:br/>
            <a:r>
              <a:rPr/>
              <a:t>Group 7: Jhanvi Damwani, Saketh Kanchi, Ajith Gangishetty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November 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Cryptocurrency-Commodity Correlation as a Market Regime Indicator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Project Presentation</a:t>
            </a:r>
          </a:p>
          <a:p>
            <a:pPr lvl="0" indent="0" marL="0">
              <a:buNone/>
            </a:pPr>
            <a:r>
              <a:rPr b="1"/>
              <a:t>Group 7:</a:t>
            </a:r>
            <a:r>
              <a:rPr/>
              <a:t> Jhanvi Damwani, Saketh Kanchi, Ajith Gangishetty</a:t>
            </a:r>
            <a:br/>
            <a:r>
              <a:rPr b="1"/>
              <a:t>Course:</a:t>
            </a:r>
            <a:r>
              <a:rPr/>
              <a:t> FA-582, Fall 2025</a:t>
            </a:r>
            <a:br/>
            <a:r>
              <a:rPr b="1"/>
              <a:t>Date:</a:t>
            </a:r>
            <a:r>
              <a:rPr/>
              <a:t> November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Research Matters</a:t>
            </a:r>
          </a:p>
          <a:p>
            <a:pPr lvl="0"/>
            <a:r>
              <a:rPr/>
              <a:t>Cryptocurrencies: niche instruments → </a:t>
            </a:r>
            <a:r>
              <a:rPr b="1"/>
              <a:t>macro-relevant financial assets</a:t>
            </a:r>
          </a:p>
          <a:p>
            <a:pPr lvl="0"/>
            <a:r>
              <a:rPr/>
              <a:t>Understanding crypto-commodity relationships is crucial for:</a:t>
            </a:r>
          </a:p>
          <a:p>
            <a:pPr lvl="1"/>
            <a:r>
              <a:rPr b="1"/>
              <a:t>Portfolio diversification strategies</a:t>
            </a:r>
          </a:p>
          <a:p>
            <a:pPr lvl="1"/>
            <a:r>
              <a:rPr b="1"/>
              <a:t>Risk management decisions</a:t>
            </a:r>
          </a:p>
          <a:p>
            <a:pPr lvl="1"/>
            <a:r>
              <a:rPr b="1"/>
              <a:t>Market regime identification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Gold and Oil?</a:t>
            </a:r>
          </a:p>
          <a:p>
            <a:pPr lvl="0"/>
            <a:r>
              <a:rPr b="1"/>
              <a:t>Gold:</a:t>
            </a:r>
            <a:r>
              <a:rPr/>
              <a:t> Hedge against inflation, store of value during uncertainty</a:t>
            </a:r>
          </a:p>
          <a:p>
            <a:pPr lvl="0"/>
            <a:r>
              <a:rPr b="1"/>
              <a:t>Oil:</a:t>
            </a:r>
            <a:r>
              <a:rPr/>
              <a:t> Reflects real economic activity and demand cycles</a:t>
            </a:r>
          </a:p>
          <a:p>
            <a:pPr lvl="0"/>
            <a:r>
              <a:rPr/>
              <a:t>Both are traditional commodities with well-understood behaviors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cryptocurrency-commodity correlations act as market regime indicators?</a:t>
            </a:r>
          </a:p>
          <a:p>
            <a:pPr lvl="0"/>
            <a:r>
              <a:rPr/>
              <a:t>Correlations </a:t>
            </a:r>
            <a:r>
              <a:rPr b="1"/>
              <a:t>rise</a:t>
            </a:r>
            <a:r>
              <a:rPr/>
              <a:t> → crypto perceived as traditional risk asset</a:t>
            </a:r>
          </a:p>
          <a:p>
            <a:pPr lvl="0"/>
            <a:r>
              <a:rPr/>
              <a:t>Correlations </a:t>
            </a:r>
            <a:r>
              <a:rPr b="1"/>
              <a:t>weaken</a:t>
            </a:r>
            <a:r>
              <a:rPr/>
              <a:t> → diversification benefits or independent valuation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Time Period?</a:t>
            </a:r>
          </a:p>
          <a:p>
            <a:pPr lvl="0" indent="0" marL="0">
              <a:buNone/>
            </a:pPr>
            <a:r>
              <a:rPr b="1"/>
              <a:t>January 2020 - September 2024</a:t>
            </a:r>
            <a:r>
              <a:rPr/>
              <a:t> captures multiple market regimes:</a:t>
            </a:r>
          </a:p>
          <a:p>
            <a:pPr lvl="0"/>
            <a:r>
              <a:rPr b="1"/>
              <a:t>COVID-19 crisis</a:t>
            </a:r>
            <a:r>
              <a:rPr/>
              <a:t> (March 2020)</a:t>
            </a:r>
          </a:p>
          <a:p>
            <a:pPr lvl="0"/>
            <a:r>
              <a:rPr b="1"/>
              <a:t>Bull markets</a:t>
            </a:r>
            <a:r>
              <a:rPr/>
              <a:t> (2021)</a:t>
            </a:r>
          </a:p>
          <a:p>
            <a:pPr lvl="0"/>
            <a:r>
              <a:rPr b="1"/>
              <a:t>2022 crypto winter</a:t>
            </a:r>
          </a:p>
          <a:p>
            <a:pPr lvl="0"/>
            <a:r>
              <a:rPr b="1"/>
              <a:t>Federal Reserve tightening cycle</a:t>
            </a:r>
          </a:p>
          <a:p>
            <a:pPr lvl="0"/>
            <a:r>
              <a:rPr b="1"/>
              <a:t>2023 banking turmoil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Natural experiments</a:t>
            </a:r>
            <a:r>
              <a:rPr/>
              <a:t> to study relationships under different conditions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Key Research Questions</a:t>
            </a:r>
          </a:p>
          <a:p>
            <a:pPr lvl="0" indent="0" marL="0">
              <a:buNone/>
            </a:pPr>
            <a:r>
              <a:rPr b="1"/>
              <a:t>RQ1:</a:t>
            </a:r>
            <a:r>
              <a:rPr/>
              <a:t> How do correlations between cryptocurrencies (Bitcoin, Ethereum) and commodities (gold, oil) vary across different market regimes?</a:t>
            </a:r>
          </a:p>
          <a:p>
            <a:pPr lvl="0" indent="0" marL="0">
              <a:buNone/>
            </a:pPr>
            <a:r>
              <a:rPr b="1"/>
              <a:t>RQ2:</a:t>
            </a:r>
            <a:r>
              <a:rPr/>
              <a:t> Can changes in cryptocurrency-commodity correlations serve as indicators of market stress and regime shifts?</a:t>
            </a:r>
          </a:p>
          <a:p>
            <a:pPr lvl="0" indent="0" marL="0">
              <a:buNone/>
            </a:pPr>
            <a:r>
              <a:rPr b="1"/>
              <a:t>RQ3:</a:t>
            </a:r>
            <a:r>
              <a:rPr/>
              <a:t> Do Bitcoin and Ethereum exhibit different correlation patterns with gold and oil?</a:t>
            </a:r>
          </a:p>
          <a:p>
            <a:pPr lvl="0" indent="0" marL="0">
              <a:buNone/>
            </a:pPr>
            <a:r>
              <a:rPr b="1"/>
              <a:t>RQ4:</a:t>
            </a:r>
            <a:r>
              <a:rPr/>
              <a:t> What correlation thresholds signal transitions between risk-on and risk-off regimes?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Source</a:t>
            </a:r>
          </a:p>
          <a:p>
            <a:pPr lvl="0"/>
            <a:r>
              <a:rPr b="1"/>
              <a:t>Source:</a:t>
            </a:r>
            <a:r>
              <a:rPr/>
              <a:t> Yahoo Finance API</a:t>
            </a:r>
          </a:p>
          <a:p>
            <a:pPr lvl="0"/>
            <a:r>
              <a:rPr b="1"/>
              <a:t>Time Period:</a:t>
            </a:r>
            <a:r>
              <a:rPr/>
              <a:t> January 1, 2020 - September 30, 2024</a:t>
            </a:r>
          </a:p>
          <a:p>
            <a:pPr lvl="0"/>
            <a:r>
              <a:rPr b="1"/>
              <a:t>Observations:</a:t>
            </a:r>
            <a:r>
              <a:rPr/>
              <a:t> ~1,200 daily observations per asset</a:t>
            </a:r>
          </a:p>
          <a:p>
            <a:pPr lvl="0"/>
            <a:r>
              <a:rPr b="1"/>
              <a:t>Frequency:</a:t>
            </a:r>
            <a:r>
              <a:rPr/>
              <a:t> Daily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Assets Analyzed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Bitcoin (BTC-USD):</a:t>
            </a:r>
            <a:r>
              <a:rPr/>
              <a:t> Largest cryptocurrency by market cap</a:t>
            </a:r>
          </a:p>
          <a:p>
            <a:pPr lvl="0"/>
            <a:r>
              <a:rPr b="1"/>
              <a:t>Ethereum (ETH-USD):</a:t>
            </a:r>
            <a:r>
              <a:rPr/>
              <a:t> Second-largest, smart contract platform</a:t>
            </a:r>
          </a:p>
          <a:p>
            <a:pPr lvl="0"/>
            <a:r>
              <a:rPr b="1"/>
              <a:t>Gold Futures (GC=F):</a:t>
            </a:r>
            <a:r>
              <a:rPr/>
              <a:t> Traditional safe-haven asset</a:t>
            </a:r>
          </a:p>
          <a:p>
            <a:pPr lvl="0"/>
            <a:r>
              <a:rPr b="1"/>
              <a:t>Crude Oil Futures (CL=F):</a:t>
            </a:r>
            <a:r>
              <a:rPr/>
              <a:t> WTI crude oil, economic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Dataset Description (continued)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Features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 Returns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ln(Price_t / Price_t-1) - ensures stationarity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Rolling Correlations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90-day rolling correlation between asset pairs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Rolling Volatility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30-day rolling standard deviation of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Normalized Prices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Price normalized to base 100 at start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Description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Preprocessing Steps</a:t>
            </a:r>
          </a:p>
          <a:p>
            <a:pPr lvl="0" indent="-342900" marL="342900">
              <a:buAutoNum type="arabicPeriod"/>
            </a:pPr>
            <a:r>
              <a:rPr b="1"/>
              <a:t>Handle missing values:</a:t>
            </a:r>
            <a:r>
              <a:rPr/>
              <a:t> Forward-fill for commodity weekend gaps</a:t>
            </a:r>
          </a:p>
          <a:p>
            <a:pPr lvl="1"/>
            <a:r>
              <a:rPr/>
              <a:t>Crypto trades 24/7, commodities trade weekdays only</a:t>
            </a:r>
          </a:p>
          <a:p>
            <a:pPr lvl="0" indent="-342900" marL="342900">
              <a:buAutoNum type="arabicPeriod"/>
            </a:pPr>
            <a:r>
              <a:rPr b="1"/>
              <a:t>Align trading calendars:</a:t>
            </a:r>
            <a:r>
              <a:rPr/>
              <a:t> Merge on common dates</a:t>
            </a:r>
          </a:p>
          <a:p>
            <a:pPr lvl="0" indent="-342900" marL="342900">
              <a:buAutoNum type="arabicPeriod"/>
            </a:pPr>
            <a:r>
              <a:rPr b="1"/>
              <a:t>Use adjusted closing prices:</a:t>
            </a:r>
            <a:r>
              <a:rPr/>
              <a:t> Accounts for corporate actions</a:t>
            </a:r>
          </a:p>
          <a:p>
            <a:pPr lvl="0" indent="-342900" marL="342900">
              <a:buAutoNum type="arabicPeriod"/>
            </a:pPr>
            <a:r>
              <a:rPr b="1"/>
              <a:t>Calculate log returns:</a:t>
            </a:r>
            <a:r>
              <a:rPr/>
              <a:t> Ensures stationarity for correlation analysis</a:t>
            </a:r>
          </a:p>
          <a:p>
            <a:pPr lvl="0" indent="-342900" marL="342900">
              <a:buAutoNum type="arabicPeriod"/>
            </a:pPr>
            <a:r>
              <a:rPr b="1"/>
              <a:t>Identify outliers:</a:t>
            </a:r>
            <a:r>
              <a:rPr/>
              <a:t> Document extreme price movements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 Statistics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Descriptive Statistics for Daily Returns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 Return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Std Dev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Skewness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Kurtosis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Bitcoin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-1.43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21.49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Ethereum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-1.28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6.74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Crude Oil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-3.80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94.45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 Statistics - 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Volatility Hierarchy</a:t>
            </a:r>
          </a:p>
          <a:p>
            <a:pPr lvl="0" indent="0" marL="0">
              <a:buNone/>
            </a:pPr>
            <a:r>
              <a:rPr b="1"/>
              <a:t>Cryptocurrencies:</a:t>
            </a:r>
            <a:r>
              <a:rPr/>
              <a:t> 3-4x higher volatility than commodities - Bitcoin: 3.45% | Ethereum: 4.46%</a:t>
            </a:r>
          </a:p>
          <a:p>
            <a:pPr lvl="0" indent="0" marL="0">
              <a:buNone/>
            </a:pPr>
            <a:r>
              <a:rPr b="1"/>
              <a:t>Commodities:</a:t>
            </a:r>
            <a:r>
              <a:rPr/>
              <a:t> Lower volatility - Gold: 0.85% | Oil: 3.19%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Fat Tails:</a:t>
            </a:r>
            <a:r>
              <a:rPr/>
              <a:t> All assets show excess kurtosis (&gt;3)</a:t>
            </a:r>
          </a:p>
          <a:p>
            <a:pPr lvl="0"/>
            <a:r>
              <a:rPr b="1"/>
              <a:t>Negative Skewness:</a:t>
            </a:r>
            <a:r>
              <a:rPr/>
              <a:t> Larger downside moves than upside moves</a:t>
            </a:r>
          </a:p>
          <a:p>
            <a:pPr lvl="0"/>
            <a:r>
              <a:rPr b="1"/>
              <a:t>Not normally distributed:</a:t>
            </a:r>
            <a:r>
              <a:rPr/>
              <a:t> Need robust statistical methods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Static Correlation Matrix (Full Sample Period)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Bitcoin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Ethereum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Oil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Bitcoin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Ethereum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Correlation Analysis - Key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Strong Crypto-Crypto Correlation</a:t>
            </a:r>
          </a:p>
          <a:p>
            <a:pPr lvl="0" indent="0" marL="0">
              <a:buNone/>
            </a:pPr>
            <a:r>
              <a:rPr b="1"/>
              <a:t>Bitcoin-Ethereum:</a:t>
            </a:r>
            <a:r>
              <a:rPr/>
              <a:t> 0.83 - Respond similarly to market forces - Share common drivers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 Crypto-Commodity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BTC-Gold:</a:t>
            </a:r>
            <a:r>
              <a:rPr/>
              <a:t> 0.12 | </a:t>
            </a:r>
            <a:r>
              <a:rPr b="1"/>
              <a:t>ETH-Gold:</a:t>
            </a:r>
            <a:r>
              <a:rPr/>
              <a:t> 0.12</a:t>
            </a:r>
          </a:p>
          <a:p>
            <a:pPr lvl="0"/>
            <a:r>
              <a:rPr b="1"/>
              <a:t>BTC-Oil:</a:t>
            </a:r>
            <a:r>
              <a:rPr/>
              <a:t> 0.1 | </a:t>
            </a:r>
            <a:r>
              <a:rPr b="1"/>
              <a:t>ETH-Oil:</a:t>
            </a:r>
            <a:r>
              <a:rPr/>
              <a:t> 0.09</a:t>
            </a:r>
          </a:p>
          <a:p>
            <a:pPr lvl="0"/>
            <a:r>
              <a:rPr b="1"/>
              <a:t>On average:</a:t>
            </a:r>
            <a:r>
              <a:rPr/>
              <a:t> Low correlations suggest diversification benefits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Time-Varying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Static correlations mask important dynamics!</a:t>
            </a:r>
          </a:p>
          <a:p>
            <a:pPr lvl="0"/>
            <a:r>
              <a:rPr/>
              <a:t>BTC-Gold correlation ranges: </a:t>
            </a:r>
            <a:r>
              <a:rPr b="1"/>
              <a:t>-0.24 to 0.54</a:t>
            </a:r>
          </a:p>
          <a:p>
            <a:pPr lvl="0"/>
            <a:r>
              <a:rPr b="1"/>
              <a:t>This 0.78 range confirms regime-dependent behavior!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1: Normalized Price Time Series</a:t>
            </a:r>
          </a:p>
        </p:txBody>
      </p:sp>
      <p:pic>
        <p:nvPicPr>
          <p:cNvPr descr="presentation_files/figure-pptx/fig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Observation:</a:t>
            </a:r>
            <a:r>
              <a:rPr/>
              <a:t> Crypto assets show dramatic price appreciation and volatility compared to commodities.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2: Rolling BTC-Gold Correlation</a:t>
            </a:r>
          </a:p>
        </p:txBody>
      </p:sp>
      <p:pic>
        <p:nvPicPr>
          <p:cNvPr descr="presentation_files/figure-pptx/fig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Finding:</a:t>
            </a:r>
            <a:r>
              <a:rPr/>
              <a:t> Correlation spikes during crisis periods, confirming regime-dependent behavior.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3: Rolling BTC-Oil Correlation</a:t>
            </a:r>
          </a:p>
        </p:txBody>
      </p:sp>
      <p:pic>
        <p:nvPicPr>
          <p:cNvPr descr="presentation_files/figure-pptx/fig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Finding:</a:t>
            </a:r>
            <a:r>
              <a:rPr/>
              <a:t> More volatile than BTC-Gold, reflecting economic cycle sensitivity.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4: Return Distributions</a:t>
            </a:r>
          </a:p>
        </p:txBody>
      </p:sp>
      <p:pic>
        <p:nvPicPr>
          <p:cNvPr descr="presentation_files/figure-pptx/fig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Observation:</a:t>
            </a:r>
            <a:r>
              <a:rPr/>
              <a:t> All distributions show fat tails and negative skewness.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5: Correlation Evolution Heatmap</a:t>
            </a:r>
          </a:p>
        </p:txBody>
      </p:sp>
      <p:pic>
        <p:nvPicPr>
          <p:cNvPr descr="presentation_files/figure-pptx/fig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Observation:</a:t>
            </a:r>
            <a:r>
              <a:rPr/>
              <a:t> Clear time-varying patterns across quarters.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Rolling Correlation Analysis</a:t>
            </a:r>
          </a:p>
          <a:p>
            <a:pPr lvl="0"/>
            <a:r>
              <a:rPr/>
              <a:t>Multiple window sizes: </a:t>
            </a:r>
            <a:r>
              <a:rPr b="1"/>
              <a:t>30, 60, 90, and 180 days</a:t>
            </a:r>
          </a:p>
          <a:p>
            <a:pPr lvl="0"/>
            <a:r>
              <a:rPr b="1"/>
              <a:t>90-day window</a:t>
            </a:r>
            <a:r>
              <a:rPr/>
              <a:t> is primary measure (balances stability and responsiveness)</a:t>
            </a:r>
          </a:p>
          <a:p>
            <a:pPr lvl="0"/>
            <a:r>
              <a:rPr/>
              <a:t>Calculated for all asset pairs:</a:t>
            </a:r>
          </a:p>
          <a:p>
            <a:pPr lvl="1"/>
            <a:r>
              <a:rPr/>
              <a:t>BTC-Gold, BTC-Oil</a:t>
            </a:r>
          </a:p>
          <a:p>
            <a:pPr lvl="1"/>
            <a:r>
              <a:rPr/>
              <a:t>ETH-Gold, ETH-Oil</a:t>
            </a:r>
          </a:p>
          <a:p>
            <a:pPr lvl="1"/>
            <a:r>
              <a:rPr/>
              <a:t>BTC-ETH (for comparison)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Alternative Correlation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Spearman rank correlations:</a:t>
            </a:r>
            <a:r>
              <a:rPr/>
              <a:t> Less sensitive to outliers</a:t>
            </a:r>
          </a:p>
          <a:p>
            <a:pPr lvl="0"/>
            <a:r>
              <a:rPr/>
              <a:t>Provides robustness check</a:t>
            </a:r>
          </a:p>
          <a:p>
            <a:pPr lvl="0"/>
            <a:r>
              <a:rPr/>
              <a:t>Results consistent with Pearson correlations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Implemented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Statistical Testing</a:t>
            </a:r>
          </a:p>
          <a:p>
            <a:pPr lvl="0"/>
            <a:r>
              <a:rPr b="1"/>
              <a:t>Augmented Dickey-Fuller (ADF) tests:</a:t>
            </a:r>
            <a:r>
              <a:rPr/>
              <a:t> Verify stationarity</a:t>
            </a:r>
          </a:p>
          <a:p>
            <a:pPr lvl="0"/>
            <a:r>
              <a:rPr/>
              <a:t>All return series are </a:t>
            </a:r>
            <a:r>
              <a:rPr b="1"/>
              <a:t>stationary</a:t>
            </a:r>
            <a:r>
              <a:rPr/>
              <a:t> (p &lt; 0.05)</a:t>
            </a:r>
          </a:p>
          <a:p>
            <a:pPr lvl="0"/>
            <a:r>
              <a:rPr/>
              <a:t>Validates our correlation analysis methodology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Correlation Significance Tests</a:t>
            </a:r>
          </a:p>
          <a:p>
            <a:pPr lvl="0"/>
            <a:r>
              <a:rPr b="1"/>
              <a:t>Hypothesis test:</a:t>
            </a:r>
            <a:r>
              <a:rPr/>
              <a:t> H0: correlation = 0 vs Ha: correlation ≠ 0</a:t>
            </a:r>
          </a:p>
          <a:p>
            <a:pPr lvl="0"/>
            <a:r>
              <a:rPr/>
              <a:t>Rolling correlation tests with </a:t>
            </a:r>
            <a:r>
              <a:rPr b="1"/>
              <a:t>p-values</a:t>
            </a:r>
            <a:r>
              <a:rPr/>
              <a:t> for each window</a:t>
            </a:r>
          </a:p>
          <a:p>
            <a:pPr lvl="0"/>
            <a:r>
              <a:rPr/>
              <a:t>Tests statistical significance of correlations over time</a:t>
            </a:r>
          </a:p>
          <a:p>
            <a:pPr lvl="0"/>
            <a:r>
              <a:rPr/>
              <a:t>Calculated for all pairs: BTC-Gold, BTC-Oil, ETH-Gold, ETH-Oil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Regime Identification for All Pairs</a:t>
            </a:r>
          </a:p>
          <a:p>
            <a:pPr lvl="0"/>
            <a:r>
              <a:rPr b="1"/>
              <a:t>Threshold-based classification</a:t>
            </a:r>
            <a:r>
              <a:rPr/>
              <a:t> applied to all four pairs</a:t>
            </a:r>
          </a:p>
          <a:p>
            <a:pPr lvl="0"/>
            <a:r>
              <a:rPr b="1"/>
              <a:t>Threshold justification:</a:t>
            </a:r>
          </a:p>
          <a:p>
            <a:pPr lvl="1"/>
            <a:r>
              <a:rPr/>
              <a:t>Based on standard finance literature (Bodie, Kane, Marcus)</a:t>
            </a:r>
          </a:p>
          <a:p>
            <a:pPr lvl="1"/>
            <a:r>
              <a:rPr/>
              <a:t>Symmetric thresholds around zero</a:t>
            </a:r>
          </a:p>
          <a:p>
            <a:pPr lvl="1"/>
            <a:r>
              <a:rPr b="1"/>
              <a:t>High Positive (&gt;0.3):</a:t>
            </a:r>
            <a:r>
              <a:rPr/>
              <a:t> Strong coupling, risk-on</a:t>
            </a:r>
          </a:p>
          <a:p>
            <a:pPr lvl="1"/>
            <a:r>
              <a:rPr b="1"/>
              <a:t>Moderate Positive (0.1-0.3):</a:t>
            </a:r>
            <a:r>
              <a:rPr/>
              <a:t> Weak to moderate coupling</a:t>
            </a:r>
          </a:p>
          <a:p>
            <a:pPr lvl="1"/>
            <a:r>
              <a:rPr b="1"/>
              <a:t>Low (-0.1 to 0.1):</a:t>
            </a:r>
            <a:r>
              <a:rPr/>
              <a:t> Independent movement</a:t>
            </a:r>
          </a:p>
          <a:p>
            <a:pPr lvl="1"/>
            <a:r>
              <a:rPr b="1"/>
              <a:t>Moderate Negative (-0.3 to -0.1):</a:t>
            </a:r>
            <a:r>
              <a:rPr/>
              <a:t> Weak to moderate decoupling</a:t>
            </a:r>
          </a:p>
          <a:p>
            <a:pPr lvl="1"/>
            <a:r>
              <a:rPr b="1"/>
              <a:t>High Negative (&lt;-0.3):</a:t>
            </a:r>
            <a:r>
              <a:rPr/>
              <a:t> Strong decoupling, risk-off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Finding 1: Time-Varying Correlations</a:t>
            </a:r>
          </a:p>
          <a:p>
            <a:pPr lvl="0"/>
            <a:r>
              <a:rPr/>
              <a:t>Rolling correlations show </a:t>
            </a:r>
            <a:r>
              <a:rPr b="1"/>
              <a:t>significant variation</a:t>
            </a:r>
            <a:r>
              <a:rPr/>
              <a:t> over time</a:t>
            </a:r>
          </a:p>
          <a:p>
            <a:pPr lvl="0"/>
            <a:r>
              <a:rPr/>
              <a:t>BTC-Gold correlation ranges: </a:t>
            </a:r>
            <a:r>
              <a:rPr b="1"/>
              <a:t>-0.24 to 0.54</a:t>
            </a:r>
          </a:p>
          <a:p>
            <a:pPr lvl="0"/>
            <a:r>
              <a:rPr b="1"/>
              <a:t>This 0.78 range confirms regime-dependent behavior!</a:t>
            </a:r>
          </a:p>
          <a:p>
            <a:pPr lvl="0"/>
            <a:r>
              <a:rPr/>
              <a:t>Static correlations are misleading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2: Crypto-Commodity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average, correlations are </a:t>
            </a:r>
            <a:r>
              <a:rPr b="1"/>
              <a:t>low</a:t>
            </a:r>
            <a:r>
              <a:rPr/>
              <a:t> (diversification benefits)</a:t>
            </a:r>
          </a:p>
          <a:p>
            <a:pPr lvl="0"/>
            <a:r>
              <a:rPr b="1"/>
              <a:t>However, correlations increase during market stress</a:t>
            </a:r>
          </a:p>
          <a:p>
            <a:pPr lvl="0"/>
            <a:r>
              <a:rPr/>
              <a:t>Key insight for regime identification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Regime Analysis: All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BTC_Gold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BTC_Oil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ETH_Gold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ETH_Oil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Regime distributions vary across pairs, showing different relationship dynamics.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Finding 3: Volatility Differences</a:t>
            </a:r>
          </a:p>
          <a:p>
            <a:pPr lvl="0"/>
            <a:r>
              <a:rPr/>
              <a:t>Cryptocurrencies are </a:t>
            </a:r>
            <a:r>
              <a:rPr b="1"/>
              <a:t>3-4x more volatile</a:t>
            </a:r>
            <a:r>
              <a:rPr/>
              <a:t> than commodities</a:t>
            </a:r>
          </a:p>
          <a:p>
            <a:pPr lvl="0"/>
            <a:r>
              <a:rPr/>
              <a:t>Bitcoin: 3.45% vs. Gold: 0.85%</a:t>
            </a:r>
          </a:p>
          <a:p>
            <a:pPr lvl="0"/>
            <a:r>
              <a:rPr/>
              <a:t>Higher risk-return profiles for digital assets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4: 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return series are </a:t>
            </a:r>
            <a:r>
              <a:rPr b="1"/>
              <a:t>stationary</a:t>
            </a:r>
            <a:r>
              <a:rPr/>
              <a:t> (ADF tests confirmed)</a:t>
            </a:r>
          </a:p>
          <a:p>
            <a:pPr lvl="0"/>
            <a:r>
              <a:rPr/>
              <a:t>Validates correlation analysis methodology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5: Correlation Significance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 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Significant (p&lt;0.05)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BTC_Gold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BTC_Oil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ETH_Gold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ETH_Oil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show varying significance across pairs and time periods</a:t>
            </a:r>
          </a:p>
          <a:p>
            <a:pPr lvl="0"/>
            <a:r>
              <a:rPr/>
              <a:t>Not all correlations are statistically significant at all times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6: Regime Patterns for All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Distinct periods of high and low correlation across </a:t>
            </a:r>
            <a:r>
              <a:rPr b="1"/>
              <a:t>all pairs</a:t>
            </a:r>
          </a:p>
          <a:p>
            <a:pPr lvl="0"/>
            <a:r>
              <a:rPr/>
              <a:t>Regime analysis completed for: BTC-Gold, BTC-Oil, ETH-Gold, ETH-Oil</a:t>
            </a:r>
          </a:p>
          <a:p>
            <a:pPr lvl="0"/>
            <a:r>
              <a:rPr/>
              <a:t>Patterns correspond to different market regimes</a:t>
            </a:r>
          </a:p>
          <a:p>
            <a:pPr lvl="0"/>
            <a:r>
              <a:rPr/>
              <a:t>Evidence: correlations can signal regime changes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Issues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Challenges</a:t>
            </a:r>
          </a:p>
          <a:p>
            <a:pPr lvl="0" indent="-342900" marL="342900">
              <a:buAutoNum type="arabicPeriod"/>
            </a:pPr>
            <a:r>
              <a:rPr b="1"/>
              <a:t>Trading Calendar Alignment</a:t>
            </a:r>
          </a:p>
          <a:p>
            <a:pPr lvl="1"/>
            <a:r>
              <a:rPr/>
              <a:t>Crypto trades 24/7, commodities trade weekdays only</a:t>
            </a:r>
          </a:p>
          <a:p>
            <a:pPr lvl="1"/>
            <a:r>
              <a:rPr b="1"/>
              <a:t>Solution:</a:t>
            </a:r>
            <a:r>
              <a:rPr/>
              <a:t> Forward-fill weekend values</a:t>
            </a:r>
          </a:p>
          <a:p>
            <a:pPr lvl="0" indent="-342900" marL="342900">
              <a:buAutoNum type="arabicPeriod"/>
            </a:pPr>
            <a:r>
              <a:rPr b="1"/>
              <a:t>Data Availability</a:t>
            </a:r>
          </a:p>
          <a:p>
            <a:pPr lvl="1"/>
            <a:r>
              <a:rPr/>
              <a:t>Missing data due to holidays or feed issues</a:t>
            </a:r>
          </a:p>
          <a:p>
            <a:pPr lvl="1"/>
            <a:r>
              <a:rPr b="1"/>
              <a:t>Solution:</a:t>
            </a:r>
            <a:r>
              <a:rPr/>
              <a:t> Forward-fill methods</a:t>
            </a:r>
          </a:p>
          <a:p>
            <a:pPr lvl="0" indent="-342900" marL="342900">
              <a:buAutoNum type="arabicPeriod"/>
            </a:pPr>
            <a:r>
              <a:rPr b="1"/>
              <a:t>API Rate Limiting</a:t>
            </a:r>
          </a:p>
          <a:p>
            <a:pPr lvl="1"/>
            <a:r>
              <a:rPr/>
              <a:t>Yahoo Finance API rate limits</a:t>
            </a:r>
          </a:p>
          <a:p>
            <a:pPr lvl="1"/>
            <a:r>
              <a:rPr b="1"/>
              <a:t>Solution:</a:t>
            </a:r>
            <a:r>
              <a:rPr/>
              <a:t> Retry logic with delays</a:t>
            </a:r>
          </a:p>
          <a:p>
            <a:pPr lvl="0" indent="-342900" marL="342900">
              <a:buAutoNum type="arabicPeriod"/>
            </a:pPr>
            <a:r>
              <a:rPr b="1"/>
              <a:t>Rolling Window Edge Cases</a:t>
            </a:r>
          </a:p>
          <a:p>
            <a:pPr lvl="1"/>
            <a:r>
              <a:rPr/>
              <a:t>Can’t calculate correlations at start of series</a:t>
            </a:r>
          </a:p>
          <a:p>
            <a:pPr lvl="1"/>
            <a:r>
              <a:rPr b="1"/>
              <a:t>Solution:</a:t>
            </a:r>
            <a:r>
              <a:rPr/>
              <a:t> Set initial values to NA, require minimum observations</a:t>
            </a:r>
          </a:p>
          <a:p>
            <a:pPr lvl="0" indent="-342900" marL="342900">
              <a:buAutoNum type="arabicPeriod"/>
            </a:pPr>
            <a:r>
              <a:rPr b="1"/>
              <a:t>Computational Efficiency</a:t>
            </a:r>
          </a:p>
          <a:p>
            <a:pPr lvl="1"/>
            <a:r>
              <a:rPr/>
              <a:t>Many calculations for multiple windows and pairs</a:t>
            </a:r>
          </a:p>
          <a:p>
            <a:pPr lvl="1"/>
            <a:r>
              <a:rPr b="1"/>
              <a:t>Solution:</a:t>
            </a:r>
            <a:r>
              <a:rPr/>
              <a:t> Optimized rolling correlation functions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Advanced Regime Detection</a:t>
            </a:r>
          </a:p>
          <a:p>
            <a:pPr lvl="0"/>
            <a:r>
              <a:rPr/>
              <a:t>Change-point detection algorithms</a:t>
            </a:r>
          </a:p>
          <a:p>
            <a:pPr lvl="0"/>
            <a:r>
              <a:rPr/>
              <a:t>Clustering analysis (K-means, hierarchical)</a:t>
            </a:r>
          </a:p>
          <a:p>
            <a:pPr lvl="0"/>
            <a:r>
              <a:rPr/>
              <a:t>Machine learning approaches for regime classification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Extended Event Study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detailed analysis around additional events:</a:t>
            </a:r>
          </a:p>
          <a:p>
            <a:pPr lvl="1"/>
            <a:r>
              <a:rPr/>
              <a:t>Federal Reserve policy announcements</a:t>
            </a:r>
          </a:p>
          <a:p>
            <a:pPr lvl="1"/>
            <a:r>
              <a:rPr/>
              <a:t>Major crypto events (ETF approvals, regulatory changes)</a:t>
            </a:r>
          </a:p>
          <a:p>
            <a:pPr lvl="1"/>
            <a:r>
              <a:rPr/>
              <a:t>Extended event windows and robustness checks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Expanded Asset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Additional cryptocurrencies (e.g., stablecoins, altcoins)</a:t>
            </a:r>
          </a:p>
          <a:p>
            <a:pPr lvl="0"/>
            <a:r>
              <a:rPr/>
              <a:t>Additional commodities (e.g., silver, natural gas)</a:t>
            </a:r>
          </a:p>
          <a:p>
            <a:pPr lvl="0"/>
            <a:r>
              <a:rPr/>
              <a:t>Cross-asset class analysis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Advanced Statistical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Granger causality tests for predictive relationships</a:t>
            </a:r>
          </a:p>
          <a:p>
            <a:pPr lvl="0"/>
            <a:r>
              <a:rPr/>
              <a:t>Cointegration tests for long-term relationships</a:t>
            </a:r>
          </a:p>
          <a:p>
            <a:pPr lvl="0"/>
            <a:r>
              <a:rPr/>
              <a:t>Multivariate GARCH models for dynamic correlations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Machine Learning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Predictive models for regime transitions</a:t>
            </a:r>
          </a:p>
          <a:p>
            <a:pPr lvl="0"/>
            <a:r>
              <a:rPr/>
              <a:t>Feature engineering with macroeconomic variables</a:t>
            </a:r>
          </a:p>
          <a:p>
            <a:pPr lvl="0"/>
            <a:r>
              <a:rPr/>
              <a:t>Real-time regime classification systems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 b="1"/>
              <a:t>Correlations are Dynamic:</a:t>
            </a:r>
            <a:r>
              <a:rPr/>
              <a:t> Not static - they vary significantly over time, with ranges up to 0.95 points (e.g., BTC-Gold)</a:t>
            </a:r>
          </a:p>
          <a:p>
            <a:pPr lvl="0" indent="-342900" marL="342900">
              <a:buAutoNum type="arabicPeriod"/>
            </a:pPr>
            <a:r>
              <a:rPr b="1"/>
              <a:t>Regime Indicators Work:</a:t>
            </a:r>
            <a:r>
              <a:rPr/>
              <a:t> Changes in correlations can signal market regime shifts, with spikes during crises and lower correlations during normal periods</a:t>
            </a:r>
          </a:p>
          <a:p>
            <a:pPr lvl="0" indent="-342900" marL="342900">
              <a:buAutoNum type="arabicPeriod"/>
            </a:pPr>
            <a:r>
              <a:rPr b="1"/>
              <a:t>Crisis Behavior:</a:t>
            </a:r>
            <a:r>
              <a:rPr/>
              <a:t> Correlations spike during market stress (COVID-19, banking turmoil), reducing diversification benefits precisely when needed most</a:t>
            </a:r>
          </a:p>
          <a:p>
            <a:pPr lvl="0" indent="-342900" marL="342900">
              <a:buAutoNum type="arabicPeriod"/>
            </a:pPr>
            <a:r>
              <a:rPr b="1"/>
              <a:t>Statistical Validation:</a:t>
            </a:r>
            <a:r>
              <a:rPr/>
              <a:t> Comprehensive analysis confirms correlations are statistically significant and meaningful, not spurious</a:t>
            </a:r>
          </a:p>
          <a:p>
            <a:pPr lvl="0" indent="-342900" marL="342900">
              <a:buAutoNum type="arabicPeriod"/>
            </a:pPr>
            <a:r>
              <a:rPr b="1"/>
              <a:t>Bitcoin vs. Ethereum:</a:t>
            </a:r>
            <a:r>
              <a:rPr/>
              <a:t> Statistical tests reveal significantly different correlation patterns, confirming they are not perfect substitutes</a:t>
            </a:r>
          </a:p>
          <a:p>
            <a:pPr lvl="0" indent="-342900" marL="342900">
              <a:buAutoNum type="arabicPeriod"/>
            </a:pPr>
            <a:r>
              <a:rPr b="1"/>
              <a:t>Practical Value:</a:t>
            </a:r>
            <a:r>
              <a:rPr/>
              <a:t> Findings inform portfolio construction, risk management, and regulatory policy decisions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Questions?</a:t>
            </a:r>
          </a:p>
          <a:p>
            <a:pPr lvl="0" indent="0" marL="0">
              <a:buNone/>
            </a:pPr>
            <a:r>
              <a:rPr b="1"/>
              <a:t>Group 7:</a:t>
            </a:r>
            <a:r>
              <a:rPr/>
              <a:t> Jhanvi Damwani, Saketh Kanchi, Ajith Gangishetty</a:t>
            </a:r>
            <a:br/>
            <a:r>
              <a:rPr b="1"/>
              <a:t>Course:</a:t>
            </a:r>
            <a:r>
              <a:rPr/>
              <a:t> FA-582, Fall 2025</a:t>
            </a:r>
          </a:p>
          <a:p>
            <a:pPr lvl="0" indent="0" marL="0">
              <a:buNone/>
            </a:pPr>
            <a:r>
              <a:rPr b="1"/>
              <a:t>Resources:</a:t>
            </a:r>
            <a:r>
              <a:rPr/>
              <a:t> - All code and data available in project repository - Final report: </a:t>
            </a:r>
            <a:r>
              <a:rPr>
                <a:latin typeface="Courier"/>
              </a:rPr>
              <a:t>reports/progress_report.pdf</a:t>
            </a:r>
            <a:r>
              <a:rPr/>
              <a:t> - All figures: </a:t>
            </a:r>
            <a:r>
              <a:rPr>
                <a:latin typeface="Courier"/>
              </a:rPr>
              <a:t>output/figures/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Cryptocurrency-Commodity Correlation as a Market Regime Indicator</dc:title>
  <dc:creator>Group 7: Jhanvi Damwani, Saketh Kanchi, Ajith Gangishetty</dc:creator>
  <cp:keywords/>
  <dcterms:created xsi:type="dcterms:W3CDTF">2025-12-06T01:34:04Z</dcterms:created>
  <dcterms:modified xsi:type="dcterms:W3CDTF">2025-12-06T01:34:04Z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November 2025</vt:lpwstr>
  </property>
  <property fmtid="{D5CDD505-2E9C-101B-9397-08002B2CF9AE}" pid="3" name="output">
    <vt:lpwstr/>
  </property>
  <property fmtid="{D5CDD505-2E9C-101B-9397-08002B2CF9AE}" pid="4" name="subtitle">
    <vt:lpwstr>Final Project Presentation</vt:lpwstr>
  </property>
</Properties>
</file>