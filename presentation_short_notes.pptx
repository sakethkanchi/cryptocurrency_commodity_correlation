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5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8" r:id="rId27"/>
    <p:sldId id="286" r:id="rId28"/>
    <p:sldId id="287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7" d="100"/>
          <a:sy n="107" d="100"/>
        </p:scale>
        <p:origin x="108" y="16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7289A-3381-4DAD-A0D0-5038EA10A2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B65E9-BAAC-4813-A93B-CE179BCB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we'll be presenting our progress on analyzing </a:t>
            </a:r>
          </a:p>
          <a:p>
            <a:r>
              <a:rPr lang="en-US" dirty="0"/>
              <a:t>cryptocurrency-commodity correlations as market regime indicators. I'm [your </a:t>
            </a:r>
          </a:p>
          <a:p>
            <a:r>
              <a:rPr lang="en-US" dirty="0"/>
              <a:t>name], and I'm joined by [other group members]. This is a progress report </a:t>
            </a:r>
          </a:p>
          <a:p>
            <a:r>
              <a:rPr lang="en-US" dirty="0"/>
              <a:t>covering our work from January 2020 to September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0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we'll be presenting our progress on analyzing </a:t>
            </a:r>
          </a:p>
          <a:p>
            <a:r>
              <a:rPr lang="en-US" dirty="0"/>
              <a:t>cryptocurrency-commodity correlations as market regime indicators. I'm [your </a:t>
            </a:r>
          </a:p>
          <a:p>
            <a:r>
              <a:rPr lang="en-US" dirty="0"/>
              <a:t>name], and I'm joined by [other group members]. This is a progress report </a:t>
            </a:r>
          </a:p>
          <a:p>
            <a:r>
              <a:rPr lang="en-US" dirty="0"/>
              <a:t>covering our work from January 2020 to September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Cryptocurrencies have evolved from niche instruments to macro-relevant financial </a:t>
            </a:r>
          </a:p>
          <a:p>
            <a:r>
              <a:rPr lang="en-US" dirty="0"/>
              <a:t>assets. Understanding their relationship with traditional commodities like gold </a:t>
            </a:r>
          </a:p>
          <a:p>
            <a:r>
              <a:rPr lang="en-US" dirty="0"/>
              <a:t>and oil is crucial for portfolio diversification and risk management. This </a:t>
            </a:r>
          </a:p>
          <a:p>
            <a:r>
              <a:rPr lang="en-US" dirty="0"/>
              <a:t>research has real-world applications for investors and policymakers.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47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gold and oil because gold acts as a hedge against inflation, while oil </a:t>
            </a:r>
          </a:p>
          <a:p>
            <a:r>
              <a:rPr lang="en-US" dirty="0"/>
              <a:t>reflects economic activity. Our core question: Can cryptocurrency-commodity </a:t>
            </a:r>
          </a:p>
          <a:p>
            <a:r>
              <a:rPr lang="en-US" dirty="0"/>
              <a:t>correlations act as market regime indicators? When correlations rise, crypto may </a:t>
            </a:r>
          </a:p>
          <a:p>
            <a:r>
              <a:rPr lang="en-US" dirty="0"/>
              <a:t>be perceived as a traditional risk asset. When they weaken, it suggests </a:t>
            </a:r>
          </a:p>
          <a:p>
            <a:r>
              <a:rPr lang="en-US" dirty="0"/>
              <a:t>diversification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39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analysis covers January 2020 to September 2024, capturing multiple market </a:t>
            </a:r>
          </a:p>
          <a:p>
            <a:r>
              <a:rPr lang="en-US" dirty="0"/>
              <a:t>regimes: the COVID-19 crisis, 2021 bull markets, the 2022 crypto winter, Fed </a:t>
            </a:r>
          </a:p>
          <a:p>
            <a:r>
              <a:rPr lang="en-US" dirty="0"/>
              <a:t>tightening, and the 2023 banking crisis. These events let us study how </a:t>
            </a:r>
          </a:p>
          <a:p>
            <a:r>
              <a:rPr lang="en-US" dirty="0"/>
              <a:t>correlations behave under different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1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four research questions. RQ1: How do correlations vary across market </a:t>
            </a:r>
          </a:p>
          <a:p>
            <a:r>
              <a:rPr lang="en-US" dirty="0"/>
              <a:t>regimes? RQ2: Can correlations serve as indicators of market stress? RQ3: Do </a:t>
            </a:r>
          </a:p>
          <a:p>
            <a:r>
              <a:rPr lang="en-US" dirty="0"/>
              <a:t>Bitcoin and Ethereum differ? RQ4: What thresholds signal regime transitions? </a:t>
            </a:r>
          </a:p>
          <a:p>
            <a:r>
              <a:rPr lang="en-US" dirty="0"/>
              <a:t>RQ1 and RQ2 are our main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08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data from Yahoo Finance API from January 2020 to September 2024 - about </a:t>
            </a:r>
          </a:p>
          <a:p>
            <a:r>
              <a:rPr lang="en-US" dirty="0"/>
              <a:t>1,200 daily observations per asset. We analyze Bitcoin, Ethereum, Gold Futures, </a:t>
            </a:r>
          </a:p>
          <a:p>
            <a:r>
              <a:rPr lang="en-US" dirty="0"/>
              <a:t>and Crude Oil Futures. Bitcoin and Ethereum are the two largest cryptocurrencies. </a:t>
            </a:r>
          </a:p>
          <a:p>
            <a:r>
              <a:rPr lang="en-US" dirty="0"/>
              <a:t>Gold is a traditional safe-haven asset, and oil reflects economic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36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calculate log returns to ensure stationarity, which is required for reliable </a:t>
            </a:r>
          </a:p>
          <a:p>
            <a:r>
              <a:rPr lang="en-US" dirty="0"/>
              <a:t>correlation analysis. We use 90-day rolling correlations as our primary measure, </a:t>
            </a:r>
          </a:p>
          <a:p>
            <a:r>
              <a:rPr lang="en-US" dirty="0"/>
              <a:t>which balances stability with responsiveness. We also calculate rolling </a:t>
            </a:r>
          </a:p>
          <a:p>
            <a:r>
              <a:rPr lang="en-US" dirty="0"/>
              <a:t>volatility and normalize prices to base 100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4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challenge: cryptocurrencies trade 24/7 while commodities trade weekdays only. </a:t>
            </a:r>
          </a:p>
          <a:p>
            <a:r>
              <a:rPr lang="en-US" dirty="0"/>
              <a:t>We forward-fill weekend values for commodities. We also handle missing data, use </a:t>
            </a:r>
          </a:p>
          <a:p>
            <a:r>
              <a:rPr lang="en-US" dirty="0"/>
              <a:t>adjusted closing prices, and identify outliers like the 2020 oil price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2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numbers: Bitcoin shows 3.45 percent daily volatility, Ethereum 4.46 percent. </a:t>
            </a:r>
          </a:p>
          <a:p>
            <a:r>
              <a:rPr lang="en-US" dirty="0"/>
              <a:t>Gold shows 0.85 percent, Oil 2.84 percent. Cryptocurrencies are 3 to 4 times </a:t>
            </a:r>
          </a:p>
          <a:p>
            <a:r>
              <a:rPr lang="en-US" dirty="0"/>
              <a:t>more volatile than commodities. All assets show fat tails and negative skewness, </a:t>
            </a:r>
          </a:p>
          <a:p>
            <a:r>
              <a:rPr lang="en-US" dirty="0"/>
              <a:t>indicating non-normal distributions with more extreme downside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44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volatility hierarchy is clear: cryptocurrencies have much higher risk. All </a:t>
            </a:r>
          </a:p>
          <a:p>
            <a:r>
              <a:rPr lang="en-US" dirty="0"/>
              <a:t>assets show excess kurtosis, meaning more extreme events than normal </a:t>
            </a:r>
          </a:p>
          <a:p>
            <a:r>
              <a:rPr lang="en-US" dirty="0"/>
              <a:t>distributions predict. This validates why we need robust statistical methods.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78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static correlation matrix shows Bitcoin and Ethereum are highly correlated at </a:t>
            </a:r>
          </a:p>
          <a:p>
            <a:r>
              <a:rPr lang="en-US" dirty="0"/>
              <a:t>0.83. Crypto-commodity correlations are weak - around 0.10 to 0.12 - suggesting </a:t>
            </a:r>
          </a:p>
          <a:p>
            <a:r>
              <a:rPr lang="en-US" dirty="0"/>
              <a:t>diversification benefits on average. However, these static correlations mask </a:t>
            </a:r>
          </a:p>
          <a:p>
            <a:r>
              <a:rPr lang="en-US" dirty="0"/>
              <a:t>important dynamics.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39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key finding: The BTC-Gold correlation ranges from negative 0.30 to </a:t>
            </a:r>
          </a:p>
          <a:p>
            <a:r>
              <a:rPr lang="en-US" dirty="0"/>
              <a:t>positive 0.65 - a 0.95 range! This confirms regime-dependent behavior. Static </a:t>
            </a:r>
          </a:p>
          <a:p>
            <a:r>
              <a:rPr lang="en-US" dirty="0"/>
              <a:t>correlations are misleading. We need to look at how correlations change over </a:t>
            </a:r>
          </a:p>
          <a:p>
            <a:r>
              <a:rPr lang="en-US" dirty="0"/>
              <a:t>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72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Figure 1 shows Bitcoin and Ethereum had dramatic price appreciation in 2020-2021,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then significant drawdowns in 2022. Gold shows steady growth, while oil shows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high volatility. The paths diverge, explaining the low average correlation, but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we need to examine correlations over time.</a:t>
            </a:r>
          </a:p>
          <a:p>
            <a:pPr marL="0" lvl="0" indent="0">
              <a:buNone/>
            </a:pP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78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2 shows the rolling 90-day correlation between Bitcoin and Gold. The red </a:t>
            </a:r>
          </a:p>
          <a:p>
            <a:pPr marL="0" lvl="0" indent="0">
              <a:buNone/>
            </a:pPr>
            <a:r>
              <a:rPr lang="en-US" dirty="0"/>
              <a:t>lines mark key events: COVID-19, Fed tightening, FTX collapse, and the banking </a:t>
            </a:r>
          </a:p>
          <a:p>
            <a:pPr marL="0" lvl="0" indent="0">
              <a:buNone/>
            </a:pPr>
            <a:r>
              <a:rPr lang="en-US" dirty="0"/>
              <a:t>crisis. Correlation ranges from negative 0.30 to positive 0.65. It spikes during </a:t>
            </a:r>
          </a:p>
          <a:p>
            <a:pPr marL="0" lvl="0" indent="0">
              <a:buNone/>
            </a:pPr>
            <a:r>
              <a:rPr lang="en-US" dirty="0"/>
              <a:t>crises and is often low during normal periods. During COVID-19, correlation </a:t>
            </a:r>
          </a:p>
          <a:p>
            <a:pPr marL="0" lvl="0" indent="0">
              <a:buNone/>
            </a:pPr>
            <a:r>
              <a:rPr lang="en-US" dirty="0"/>
              <a:t>spiked as both assets sold off together. During the 2022 crypto winter, </a:t>
            </a:r>
          </a:p>
          <a:p>
            <a:pPr marL="0" lvl="0" indent="0">
              <a:buNone/>
            </a:pPr>
            <a:r>
              <a:rPr lang="en-US" dirty="0"/>
              <a:t>correlation was lower - crypto crashed while gold held. This directly answers </a:t>
            </a:r>
          </a:p>
          <a:p>
            <a:pPr marL="0" lvl="0" indent="0">
              <a:buNone/>
            </a:pPr>
            <a:r>
              <a:rPr lang="en-US" dirty="0"/>
              <a:t>our research questions: correlations are dynamic and can signal market stress.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7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3 shows BTC-Oil correlation is more volatile than BTC-Gold. Oil is more </a:t>
            </a:r>
          </a:p>
          <a:p>
            <a:pPr marL="0" lvl="0" indent="0">
              <a:buNone/>
            </a:pPr>
            <a:r>
              <a:rPr lang="en-US" dirty="0"/>
              <a:t>sensitive to economic cycles. High correlation suggests risk-on regimes, while </a:t>
            </a:r>
          </a:p>
          <a:p>
            <a:pPr marL="0" lvl="0" indent="0">
              <a:buNone/>
            </a:pPr>
            <a:r>
              <a:rPr lang="en-US" dirty="0"/>
              <a:t>low or negative correlation suggests risk-off or decoupling. This supports our </a:t>
            </a:r>
          </a:p>
          <a:p>
            <a:pPr marL="0" lvl="0" indent="0">
              <a:buNone/>
            </a:pPr>
            <a:r>
              <a:rPr lang="en-US" dirty="0"/>
              <a:t>regime indicator hypothesis.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24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4 shows all distributions have fat tails and negative skewness. </a:t>
            </a:r>
          </a:p>
          <a:p>
            <a:pPr marL="0" lvl="0" indent="0">
              <a:buNone/>
            </a:pPr>
            <a:r>
              <a:rPr lang="en-US" dirty="0"/>
              <a:t>Cryptocurrencies have wider distributions reflecting higher volatility. This </a:t>
            </a:r>
          </a:p>
          <a:p>
            <a:pPr marL="0" lvl="0" indent="0">
              <a:buNone/>
            </a:pPr>
            <a:r>
              <a:rPr lang="en-US" dirty="0"/>
              <a:t>validates why we need robust statistical methods.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50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 shows quarterly correlation patterns. BTC-ETH correlation is consistently </a:t>
            </a:r>
          </a:p>
          <a:p>
            <a:r>
              <a:rPr lang="en-US" dirty="0"/>
              <a:t>high. Crypto-commodity correlations vary by quarter, with some periods showing </a:t>
            </a:r>
          </a:p>
          <a:p>
            <a:r>
              <a:rPr lang="en-US" dirty="0"/>
              <a:t>strong positive correlations and others showing weak or negative correlations. </a:t>
            </a:r>
          </a:p>
          <a:p>
            <a:r>
              <a:rPr lang="en-US" dirty="0"/>
              <a:t>This clearly shows the time-varying nature.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0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rolling correlations with multiple window sizes. The 90-day window balances </a:t>
            </a:r>
          </a:p>
          <a:p>
            <a:r>
              <a:rPr lang="en-US" dirty="0"/>
              <a:t>stability with responsiveness. We also calculate Spearman correlations for </a:t>
            </a:r>
          </a:p>
          <a:p>
            <a:r>
              <a:rPr lang="en-US" dirty="0"/>
              <a:t>robustness, and results are consistent with Pearson correlations.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4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performed Augmented Dickey-Fuller tests - all return series are stationary, </a:t>
            </a:r>
          </a:p>
          <a:p>
            <a:r>
              <a:rPr lang="en-US" dirty="0"/>
              <a:t>validating our methodology. We implemented threshold-based regime classification: </a:t>
            </a:r>
          </a:p>
          <a:p>
            <a:r>
              <a:rPr lang="en-US" dirty="0"/>
              <a:t>high positive correlations above 0.3 suggest risk-on regimes, while low </a:t>
            </a:r>
          </a:p>
          <a:p>
            <a:r>
              <a:rPr lang="en-US" dirty="0"/>
              <a:t>correlations suggest independent movement.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52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1: Correlations are time-varying. BTC-Gold ranges from negative 0.30 to </a:t>
            </a:r>
          </a:p>
          <a:p>
            <a:r>
              <a:rPr lang="en-US" dirty="0"/>
              <a:t>positive 0.65 - a 0.95 range confirming regime-dependent behavior. </a:t>
            </a:r>
          </a:p>
          <a:p>
            <a:r>
              <a:rPr lang="en-US" dirty="0"/>
              <a:t>Finding 2: On average, correlations are low, suggesting diversification benefits. However, </a:t>
            </a:r>
          </a:p>
          <a:p>
            <a:r>
              <a:rPr lang="en-US" dirty="0"/>
              <a:t>correlations increase during market stress, reducing diversification during </a:t>
            </a:r>
          </a:p>
          <a:p>
            <a:r>
              <a:rPr lang="en-US" dirty="0"/>
              <a:t>crises. These findings directly answer our research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33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3: Cryptocurrencies are 3 to 4 times more volatile than commodities. </a:t>
            </a:r>
          </a:p>
          <a:p>
            <a:r>
              <a:rPr lang="en-US" dirty="0"/>
              <a:t>Finding 4: All return series are stationary, validating our methodology. </a:t>
            </a:r>
          </a:p>
          <a:p>
            <a:r>
              <a:rPr lang="en-US" dirty="0"/>
              <a:t>Finding 5: We observe distinct periods of high and low correlation corresponding to </a:t>
            </a:r>
          </a:p>
          <a:p>
            <a:r>
              <a:rPr lang="en-US" dirty="0"/>
              <a:t>different market regimes, providing evidence that correlations can signal regime </a:t>
            </a:r>
          </a:p>
          <a:p>
            <a:r>
              <a:rPr lang="en-US" dirty="0"/>
              <a:t>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86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faced several challenges: trading calendar alignment between 24/7 crypto and </a:t>
            </a:r>
          </a:p>
          <a:p>
            <a:r>
              <a:rPr lang="en-US" dirty="0"/>
              <a:t>weekday-only commodities, missing data, API rate limiting, rolling window edge </a:t>
            </a:r>
          </a:p>
          <a:p>
            <a:r>
              <a:rPr lang="en-US" dirty="0"/>
              <a:t>cases, and computational efficiency. We addressed these with forward-filling, </a:t>
            </a:r>
          </a:p>
          <a:p>
            <a:r>
              <a:rPr lang="en-US" dirty="0"/>
              <a:t>retry logic, and optimized code, ensuring data integrity.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46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include advanced regime detection using change-point algorithms and </a:t>
            </a:r>
          </a:p>
          <a:p>
            <a:r>
              <a:rPr lang="en-US" dirty="0"/>
              <a:t>machine learning, and event study analysis around major events like COVID-19, </a:t>
            </a:r>
          </a:p>
          <a:p>
            <a:r>
              <a:rPr lang="en-US" dirty="0"/>
              <a:t>Fed policy changes, and the FTX collapse, using plus or minus 30 day windows.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8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also perform comparative analysis between Bitcoin and Ethereum, advanced </a:t>
            </a:r>
          </a:p>
          <a:p>
            <a:r>
              <a:rPr lang="en-US" dirty="0"/>
              <a:t>statistical testing including Granger causality, threshold analysis using ROC </a:t>
            </a:r>
          </a:p>
          <a:p>
            <a:r>
              <a:rPr lang="en-US" dirty="0"/>
              <a:t>analysis, and compile everything into a comprehensive final report with policy </a:t>
            </a:r>
          </a:p>
          <a:p>
            <a:r>
              <a:rPr lang="en-US" dirty="0"/>
              <a:t>and investment implications.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84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also perform comparative analysis between Bitcoin and Ethereum, advanced </a:t>
            </a:r>
          </a:p>
          <a:p>
            <a:r>
              <a:rPr lang="en-US" dirty="0"/>
              <a:t>statistical testing including Granger causality, threshold analysis using ROC </a:t>
            </a:r>
          </a:p>
          <a:p>
            <a:r>
              <a:rPr lang="en-US" dirty="0"/>
              <a:t>analysis, and compile everything into a comprehensive final report with policy </a:t>
            </a:r>
          </a:p>
          <a:p>
            <a:r>
              <a:rPr lang="en-US" dirty="0"/>
              <a:t>and investment implications.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13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 Correlations are dynamic, not static. Regime indicators work - </a:t>
            </a:r>
          </a:p>
          <a:p>
            <a:r>
              <a:rPr lang="en-US" dirty="0"/>
              <a:t>correlations can signal market regime shifts. Correlations spike during crises, </a:t>
            </a:r>
          </a:p>
          <a:p>
            <a:r>
              <a:rPr lang="en-US" dirty="0"/>
              <a:t>reducing diversification benefits. Cryptocurrencies show both similarities and </a:t>
            </a:r>
          </a:p>
          <a:p>
            <a:r>
              <a:rPr lang="en-US" dirty="0"/>
              <a:t>differences to traditional assets. This analysis has practical value for </a:t>
            </a:r>
          </a:p>
          <a:p>
            <a:r>
              <a:rPr lang="en-US" dirty="0"/>
              <a:t>investment and risk management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Cryptocurrency-Commodity Correlation as a Market Regime Indicator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t>Progress Report Presentation</a:t>
            </a:r>
            <a:br/>
            <a:br/>
            <a:r>
              <a:t>Group 7: Jhanvi Damwani, Saketh Kanchi, Ajith Shetty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Cryptocurrency-Commodity Correlation as a Market Regime Indicator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Progress Report</a:t>
            </a:r>
          </a:p>
          <a:p>
            <a:pPr marL="0" lvl="0" indent="0">
              <a:buNone/>
            </a:pPr>
            <a:r>
              <a:rPr b="1"/>
              <a:t>Group 7:</a:t>
            </a:r>
            <a:r>
              <a:t> Jhanvi Damwani, Saketh Kanchi, Ajith Shetty</a:t>
            </a:r>
            <a:br/>
            <a:r>
              <a:rPr b="1"/>
              <a:t>Course:</a:t>
            </a:r>
            <a:r>
              <a:t> FA-582, Fall 2025</a:t>
            </a:r>
            <a:br/>
            <a:r>
              <a:rPr b="1"/>
              <a:t>Date:</a:t>
            </a:r>
            <a:r>
              <a:t> November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Research Matters</a:t>
            </a:r>
          </a:p>
          <a:p>
            <a:pPr lvl="0"/>
            <a:r>
              <a:t>Cryptocurrencies have evolved from niche instruments to </a:t>
            </a:r>
            <a:r>
              <a:rPr b="1"/>
              <a:t>macro-relevant financial assets</a:t>
            </a:r>
          </a:p>
          <a:p>
            <a:pPr lvl="0"/>
            <a:r>
              <a:t>Understanding their relationship with traditional commodities is crucial for:</a:t>
            </a:r>
          </a:p>
          <a:p>
            <a:pPr lvl="1"/>
            <a:r>
              <a:rPr b="1"/>
              <a:t>Portfolio diversification strategies</a:t>
            </a:r>
          </a:p>
          <a:p>
            <a:pPr lvl="1"/>
            <a:r>
              <a:rPr b="1"/>
              <a:t>Risk management decisions</a:t>
            </a:r>
          </a:p>
          <a:p>
            <a:pPr lvl="1"/>
            <a:r>
              <a:rPr b="1"/>
              <a:t>Market regime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Gold and Oil?</a:t>
            </a:r>
          </a:p>
          <a:p>
            <a:pPr lvl="0"/>
            <a:r>
              <a:rPr b="1"/>
              <a:t>Gold:</a:t>
            </a:r>
            <a:r>
              <a:t> Hedge against inflation, store of value during uncertainty</a:t>
            </a:r>
          </a:p>
          <a:p>
            <a:pPr lvl="0"/>
            <a:r>
              <a:rPr b="1"/>
              <a:t>Oil:</a:t>
            </a:r>
            <a:r>
              <a:t> Reflects real economic activity and demand cycles</a:t>
            </a:r>
          </a:p>
          <a:p>
            <a:pPr lvl="0"/>
            <a:r>
              <a:t>Both are traditional commodities with well-understood behaviors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marL="0" lvl="0" indent="0">
              <a:buNone/>
            </a:pPr>
            <a:r>
              <a:rPr b="1"/>
              <a:t>Can cryptocurrency-commodity correlations act as market regime indicators?</a:t>
            </a:r>
          </a:p>
          <a:p>
            <a:pPr lvl="0"/>
            <a:r>
              <a:t>When correlations </a:t>
            </a:r>
            <a:r>
              <a:rPr b="1"/>
              <a:t>rise</a:t>
            </a:r>
            <a:r>
              <a:t> → crypto perceived as traditional risk asset</a:t>
            </a:r>
          </a:p>
          <a:p>
            <a:pPr lvl="0"/>
            <a:r>
              <a:t>When correlations </a:t>
            </a:r>
            <a:r>
              <a:rPr b="1"/>
              <a:t>weaken</a:t>
            </a:r>
            <a:r>
              <a:t> → diversification benefits or independent 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Time Period?</a:t>
            </a:r>
          </a:p>
          <a:p>
            <a:pPr marL="0" lvl="0" indent="0">
              <a:buNone/>
            </a:pPr>
            <a:r>
              <a:rPr b="1"/>
              <a:t>January 2020 - September 2024</a:t>
            </a:r>
            <a:r>
              <a:t> captures multiple market regimes:</a:t>
            </a:r>
          </a:p>
          <a:p>
            <a:pPr lvl="0"/>
            <a:r>
              <a:rPr b="1"/>
              <a:t>COVID-19 crisis</a:t>
            </a:r>
            <a:r>
              <a:t> (March 2020)</a:t>
            </a:r>
          </a:p>
          <a:p>
            <a:pPr lvl="0"/>
            <a:r>
              <a:rPr b="1"/>
              <a:t>Bull markets</a:t>
            </a:r>
            <a:r>
              <a:t> (2021)</a:t>
            </a:r>
          </a:p>
          <a:p>
            <a:pPr lvl="0"/>
            <a:r>
              <a:rPr b="1"/>
              <a:t>2022 crypto winter</a:t>
            </a:r>
          </a:p>
          <a:p>
            <a:pPr lvl="0"/>
            <a:r>
              <a:rPr b="1"/>
              <a:t>Federal Reserve tightening cycle</a:t>
            </a:r>
          </a:p>
          <a:p>
            <a:pPr lvl="0"/>
            <a:r>
              <a:rPr b="1"/>
              <a:t>2023 banking turmoil</a:t>
            </a:r>
          </a:p>
          <a:p>
            <a:pPr marL="0" lvl="0" indent="0">
              <a:buNone/>
            </a:pPr>
            <a:r>
              <a:t>These provide </a:t>
            </a:r>
            <a:r>
              <a:rPr b="1"/>
              <a:t>natural experiments</a:t>
            </a:r>
            <a:r>
              <a:t> to study relationships under different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Four Key Research Questions</a:t>
            </a:r>
          </a:p>
          <a:p>
            <a:pPr marL="0" lvl="0" indent="0">
              <a:buNone/>
            </a:pPr>
            <a:r>
              <a:rPr b="1"/>
              <a:t>RQ1:</a:t>
            </a:r>
            <a:r>
              <a:t> How do correlations between cryptocurrencies (Bitcoin, Ethereum) and commodities (gold, oil) vary across different market regimes?</a:t>
            </a:r>
          </a:p>
          <a:p>
            <a:pPr marL="0" lvl="0" indent="0">
              <a:buNone/>
            </a:pPr>
            <a:r>
              <a:rPr b="1"/>
              <a:t>RQ2:</a:t>
            </a:r>
            <a:r>
              <a:t> Can changes in cryptocurrency-commodity correlations serve as indicators of market stress and regime shifts?</a:t>
            </a:r>
          </a:p>
          <a:p>
            <a:pPr marL="0" lvl="0" indent="0">
              <a:buNone/>
            </a:pPr>
            <a:r>
              <a:rPr b="1"/>
              <a:t>RQ3:</a:t>
            </a:r>
            <a:r>
              <a:t> Do Bitcoin and Ethereum exhibit different correlation patterns with gold and oil?</a:t>
            </a:r>
          </a:p>
          <a:p>
            <a:pPr marL="0" lvl="0" indent="0">
              <a:buNone/>
            </a:pPr>
            <a:r>
              <a:rPr b="1"/>
              <a:t>RQ4:</a:t>
            </a:r>
            <a:r>
              <a:t> What correlation thresholds signal transitions between risk-on and risk-off regimes?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Data Source</a:t>
            </a:r>
          </a:p>
          <a:p>
            <a:pPr lvl="0"/>
            <a:r>
              <a:rPr b="1"/>
              <a:t>Source:</a:t>
            </a:r>
            <a:r>
              <a:t> Yahoo Finance API</a:t>
            </a:r>
          </a:p>
          <a:p>
            <a:pPr lvl="0"/>
            <a:r>
              <a:rPr b="1"/>
              <a:t>Time Period:</a:t>
            </a:r>
            <a:r>
              <a:t> January 1, 2020 - September 30, 2024</a:t>
            </a:r>
          </a:p>
          <a:p>
            <a:pPr lvl="0"/>
            <a:r>
              <a:rPr b="1"/>
              <a:t>Observations:</a:t>
            </a:r>
            <a:r>
              <a:t> ~1,200 daily observations per asset</a:t>
            </a:r>
          </a:p>
          <a:p>
            <a:pPr lvl="0"/>
            <a:r>
              <a:rPr b="1"/>
              <a:t>Frequency:</a:t>
            </a:r>
            <a:r>
              <a:t> Daily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Assets Analyzed</a:t>
            </a:r>
          </a:p>
          <a:p>
            <a:pPr lvl="0"/>
            <a:r>
              <a:rPr b="1"/>
              <a:t>Bitcoin (BTC-USD):</a:t>
            </a:r>
            <a:r>
              <a:t> Largest cryptocurrency by market cap</a:t>
            </a:r>
          </a:p>
          <a:p>
            <a:pPr lvl="0"/>
            <a:r>
              <a:rPr b="1"/>
              <a:t>Ethereum (ETH-USD):</a:t>
            </a:r>
            <a:r>
              <a:t> Second-largest, smart contract platform</a:t>
            </a:r>
          </a:p>
          <a:p>
            <a:pPr lvl="0"/>
            <a:r>
              <a:rPr b="1"/>
              <a:t>Gold Futures (GC=F):</a:t>
            </a:r>
            <a:r>
              <a:t> Traditional safe-haven asset</a:t>
            </a:r>
          </a:p>
          <a:p>
            <a:pPr lvl="0"/>
            <a:r>
              <a:rPr b="1"/>
              <a:t>Crude Oil Futures (CL=F):</a:t>
            </a:r>
            <a:r>
              <a:t> WTI crude oil, economic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Dataset Description (continued)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Derived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18556"/>
              </p:ext>
            </p:extLst>
          </p:nvPr>
        </p:nvGraphicFramePr>
        <p:xfrm>
          <a:off x="2019300" y="1417320"/>
          <a:ext cx="51054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Log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ln(Price_t / Price_t-1)</a:t>
                      </a:r>
                      <a:r>
                        <a:t> - ensures stationarity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Rolling Correlations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90-day rolling correlation between asset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Rolling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30-day rolling standard deviation of returns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Normalized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Price normalized to base 100 at start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Preprocessing Steps</a:t>
            </a:r>
          </a:p>
          <a:p>
            <a:pPr marL="342900" lvl="0" indent="-342900">
              <a:buAutoNum type="arabicPeriod"/>
            </a:pPr>
            <a:r>
              <a:rPr b="1"/>
              <a:t>Handle missing values:</a:t>
            </a:r>
            <a:r>
              <a:t> Forward-fill for commodity weekend gaps</a:t>
            </a:r>
          </a:p>
          <a:p>
            <a:pPr lvl="1"/>
            <a:r>
              <a:t>Crypto trades 24/7, commodities trade weekdays only</a:t>
            </a:r>
          </a:p>
          <a:p>
            <a:pPr marL="342900" lvl="0" indent="-342900">
              <a:buAutoNum type="arabicPeriod"/>
            </a:pPr>
            <a:r>
              <a:rPr b="1"/>
              <a:t>Align trading calendars:</a:t>
            </a:r>
            <a:r>
              <a:t> Merge on common dates</a:t>
            </a:r>
          </a:p>
          <a:p>
            <a:pPr marL="342900" lvl="0" indent="-342900">
              <a:buAutoNum type="arabicPeriod"/>
            </a:pPr>
            <a:r>
              <a:rPr b="1"/>
              <a:t>Use adjusted closing prices:</a:t>
            </a:r>
            <a:r>
              <a:t> Accounts for corporate actions</a:t>
            </a:r>
          </a:p>
          <a:p>
            <a:pPr marL="342900" lvl="0" indent="-342900">
              <a:buAutoNum type="arabicPeriod"/>
            </a:pPr>
            <a:r>
              <a:rPr b="1"/>
              <a:t>Calculate log returns:</a:t>
            </a:r>
            <a:r>
              <a:t> Ensures stationarity for correlation analysis</a:t>
            </a:r>
          </a:p>
          <a:p>
            <a:pPr marL="342900" lvl="0" indent="-342900">
              <a:buAutoNum type="arabicPeriod"/>
            </a:pPr>
            <a:r>
              <a:rPr b="1"/>
              <a:t>Identify outliers:</a:t>
            </a:r>
            <a:r>
              <a:t> Document extreme price movements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Summary Statistics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Descriptive Statistics for Daily Returns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774515"/>
              </p:ext>
            </p:extLst>
          </p:nvPr>
        </p:nvGraphicFramePr>
        <p:xfrm>
          <a:off x="1603375" y="1534676"/>
          <a:ext cx="5937250" cy="2601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4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Mean Return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Std Dev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Skewness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Crude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35.34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Statistics - 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Volatility Hierarchy</a:t>
            </a:r>
          </a:p>
          <a:p>
            <a:pPr lvl="0"/>
            <a:r>
              <a:rPr b="1"/>
              <a:t>Cryptocurrencies:</a:t>
            </a:r>
            <a:r>
              <a:t> 3-4x higher volatility than commodities</a:t>
            </a:r>
          </a:p>
          <a:p>
            <a:pPr lvl="1"/>
            <a:r>
              <a:t>Bitcoin: 3.45% daily volatility</a:t>
            </a:r>
          </a:p>
          <a:p>
            <a:pPr lvl="1"/>
            <a:r>
              <a:t>Ethereum: 4.46% daily volatility</a:t>
            </a:r>
          </a:p>
          <a:p>
            <a:pPr lvl="0"/>
            <a:r>
              <a:rPr b="1"/>
              <a:t>Commodities:</a:t>
            </a:r>
            <a:r>
              <a:t> Lower volatility</a:t>
            </a:r>
          </a:p>
          <a:p>
            <a:pPr lvl="1"/>
            <a:r>
              <a:t>Gold: 0.85% daily volatility</a:t>
            </a:r>
          </a:p>
          <a:p>
            <a:pPr lvl="1"/>
            <a:r>
              <a:t>Oil: 2.84% daily volatility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Distribution Characteristics</a:t>
            </a:r>
          </a:p>
          <a:p>
            <a:pPr lvl="0"/>
            <a:r>
              <a:rPr b="1"/>
              <a:t>Fat Tails:</a:t>
            </a:r>
            <a:r>
              <a:t> All assets show excess kurtosis (&gt;3)</a:t>
            </a:r>
          </a:p>
          <a:p>
            <a:pPr lvl="0"/>
            <a:r>
              <a:rPr b="1"/>
              <a:t>Negative Skewness:</a:t>
            </a:r>
            <a:r>
              <a:t> Larger downside moves than upside moves</a:t>
            </a:r>
          </a:p>
          <a:p>
            <a:pPr lvl="0"/>
            <a:r>
              <a:rPr b="1"/>
              <a:t>Not normally distributed:</a:t>
            </a:r>
            <a:r>
              <a:t> Need robust statistical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Static Correlation Matrix (Full Sample Period)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128878"/>
              </p:ext>
            </p:extLst>
          </p:nvPr>
        </p:nvGraphicFramePr>
        <p:xfrm>
          <a:off x="1462127" y="1907884"/>
          <a:ext cx="6219745" cy="185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Asset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Bitcoin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Ethereum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Gold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Oil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Bitcoin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0.11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Ethereum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Gold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0.14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Oil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0.11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0.14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1.00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Correlation Analysis - 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95724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sz="1200" b="1" dirty="0"/>
              <a:t>Strong Crypto-Crypto Correlation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Bitcoin-Ethereum:</a:t>
            </a:r>
            <a:r>
              <a:rPr sz="1200" dirty="0"/>
              <a:t> 0.83</a:t>
            </a:r>
          </a:p>
          <a:p>
            <a:pPr lvl="1">
              <a:lnSpc>
                <a:spcPct val="120000"/>
              </a:lnSpc>
            </a:pPr>
            <a:r>
              <a:rPr sz="1200" dirty="0"/>
              <a:t>They respond similarly to market forces</a:t>
            </a:r>
          </a:p>
          <a:p>
            <a:pPr lvl="1">
              <a:lnSpc>
                <a:spcPct val="120000"/>
              </a:lnSpc>
            </a:pPr>
            <a:r>
              <a:rPr sz="1200" dirty="0"/>
              <a:t>Share common drivers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/>
              <a:t>Weak Crypto-Commodity Correlations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BTC-Gold:</a:t>
            </a:r>
            <a:r>
              <a:rPr sz="1200" dirty="0"/>
              <a:t> 0.12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ETH-Gold:</a:t>
            </a:r>
            <a:r>
              <a:rPr sz="1200" dirty="0"/>
              <a:t> 0.12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BTC-Oil:</a:t>
            </a:r>
            <a:r>
              <a:rPr sz="1200" dirty="0"/>
              <a:t> 0.11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ETH-Oil:</a:t>
            </a:r>
            <a:r>
              <a:rPr sz="1200" dirty="0"/>
              <a:t> 0.1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On average:</a:t>
            </a:r>
            <a:r>
              <a:rPr sz="1200" dirty="0"/>
              <a:t> Low correlations suggest diversification benefits</a:t>
            </a:r>
            <a:endParaRPr lang="en-US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sz="1200" b="1" dirty="0"/>
              <a:t>Time-Varying Patterns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Static correlations mask important dynamics!</a:t>
            </a:r>
          </a:p>
          <a:p>
            <a:pPr lvl="0">
              <a:lnSpc>
                <a:spcPct val="120000"/>
              </a:lnSpc>
            </a:pPr>
            <a:r>
              <a:rPr sz="1200" dirty="0"/>
              <a:t>BTC-Gold correlation ranges from </a:t>
            </a:r>
            <a:r>
              <a:rPr sz="1200" b="1" dirty="0"/>
              <a:t>-0.24 to 0.54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This 0.95 range confirms regime-dependent behavior!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1: Normalized Price Time Series</a:t>
            </a:r>
          </a:p>
        </p:txBody>
      </p:sp>
      <p:pic>
        <p:nvPicPr>
          <p:cNvPr id="3" name="Picture 1" descr="presentation_files/figure-pptx/fig1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2: Rolling BTC-Gold Correlation</a:t>
            </a:r>
          </a:p>
        </p:txBody>
      </p:sp>
      <p:pic>
        <p:nvPicPr>
          <p:cNvPr id="3" name="Picture 1" descr="presentation_files/figure-pptx/fig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3: Rolling BTC-Oil Correlation</a:t>
            </a:r>
          </a:p>
        </p:txBody>
      </p:sp>
      <p:pic>
        <p:nvPicPr>
          <p:cNvPr id="3" name="Picture 1" descr="presentation_files/figure-pptx/fig3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4: Return Distributions</a:t>
            </a:r>
          </a:p>
        </p:txBody>
      </p:sp>
      <p:pic>
        <p:nvPicPr>
          <p:cNvPr id="3" name="Picture 1" descr="presentation_files/figure-pptx/fig4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5: Correlation Evolution Heatmap</a:t>
            </a:r>
          </a:p>
        </p:txBody>
      </p:sp>
      <p:pic>
        <p:nvPicPr>
          <p:cNvPr id="3" name="Picture 1" descr="presentation_files/figure-pptx/fig5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1. Rolling Correlation Analysis</a:t>
            </a:r>
          </a:p>
          <a:p>
            <a:pPr lvl="0"/>
            <a:r>
              <a:t>Multiple window sizes: </a:t>
            </a:r>
            <a:r>
              <a:rPr b="1"/>
              <a:t>30, 60, 90, and 180 days</a:t>
            </a:r>
          </a:p>
          <a:p>
            <a:pPr lvl="0"/>
            <a:r>
              <a:rPr b="1"/>
              <a:t>90-day window</a:t>
            </a:r>
            <a:r>
              <a:t> is primary measure (balances stability and responsiveness)</a:t>
            </a:r>
          </a:p>
          <a:p>
            <a:pPr lvl="0"/>
            <a:r>
              <a:t>Calculated for all asset pairs:</a:t>
            </a:r>
          </a:p>
          <a:p>
            <a:pPr lvl="1"/>
            <a:r>
              <a:t>BTC-Gold, BTC-Oil</a:t>
            </a:r>
          </a:p>
          <a:p>
            <a:pPr lvl="1"/>
            <a:r>
              <a:t>ETH-Gold, ETH-Oil</a:t>
            </a:r>
          </a:p>
          <a:p>
            <a:pPr lvl="1"/>
            <a:r>
              <a:t>BTC-ETH (for comparison)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Alternative Correlation Measures</a:t>
            </a:r>
          </a:p>
          <a:p>
            <a:pPr lvl="0"/>
            <a:r>
              <a:rPr b="1"/>
              <a:t>Spearman rank correlations:</a:t>
            </a:r>
            <a:r>
              <a:t> Less sensitive to outliers</a:t>
            </a:r>
          </a:p>
          <a:p>
            <a:pPr lvl="0"/>
            <a:r>
              <a:t>Provides robustness check</a:t>
            </a:r>
          </a:p>
          <a:p>
            <a:pPr lvl="0"/>
            <a:r>
              <a:t>Results consistent with Pearson correlations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3. Statistical Testing</a:t>
            </a:r>
          </a:p>
          <a:p>
            <a:pPr lvl="0"/>
            <a:r>
              <a:rPr b="1"/>
              <a:t>Augmented Dickey-Fuller (ADF) tests:</a:t>
            </a:r>
            <a:r>
              <a:t> Verify stationarity</a:t>
            </a:r>
          </a:p>
          <a:p>
            <a:pPr lvl="0"/>
            <a:r>
              <a:t>All return series are </a:t>
            </a:r>
            <a:r>
              <a:rPr b="1"/>
              <a:t>stationary</a:t>
            </a:r>
            <a:r>
              <a:t> (p &lt; 0.05)</a:t>
            </a:r>
          </a:p>
          <a:p>
            <a:pPr lvl="0"/>
            <a:r>
              <a:t>Validates our correlation analysis methodology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4. Preliminary Regime Identification</a:t>
            </a:r>
          </a:p>
          <a:p>
            <a:pPr lvl="0"/>
            <a:r>
              <a:t>Threshold-based classification:</a:t>
            </a:r>
          </a:p>
          <a:p>
            <a:pPr lvl="1"/>
            <a:r>
              <a:rPr b="1"/>
              <a:t>High Positive (&gt;0.3):</a:t>
            </a:r>
            <a:r>
              <a:t> Strong coupling, risk-on</a:t>
            </a:r>
          </a:p>
          <a:p>
            <a:pPr lvl="1"/>
            <a:r>
              <a:rPr b="1"/>
              <a:t>Moderate Positive (0.1-0.3):</a:t>
            </a:r>
            <a:r>
              <a:t> Some coupling</a:t>
            </a:r>
          </a:p>
          <a:p>
            <a:pPr lvl="1"/>
            <a:r>
              <a:rPr b="1"/>
              <a:t>Low (-0.1 to 0.1):</a:t>
            </a:r>
            <a:r>
              <a:t> Independent movement</a:t>
            </a:r>
          </a:p>
          <a:p>
            <a:pPr lvl="1"/>
            <a:r>
              <a:rPr b="1"/>
              <a:t>Moderate Negative (-0.3 to -0.1):</a:t>
            </a:r>
            <a:r>
              <a:t> Some decoupling</a:t>
            </a:r>
          </a:p>
          <a:p>
            <a:pPr lvl="1"/>
            <a:r>
              <a:rPr b="1"/>
              <a:t>High Negative (&lt;-0.3):</a:t>
            </a:r>
            <a:r>
              <a:t> Strong decoupling, risk-off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1: Time-Varying Correlations</a:t>
            </a:r>
          </a:p>
          <a:p>
            <a:pPr lvl="0"/>
            <a:r>
              <a:rPr sz="1600" dirty="0"/>
              <a:t>Rolling correlations show </a:t>
            </a:r>
            <a:r>
              <a:rPr sz="1600" b="1" dirty="0"/>
              <a:t>significant variation</a:t>
            </a:r>
            <a:r>
              <a:rPr sz="1600" dirty="0"/>
              <a:t> over time</a:t>
            </a:r>
          </a:p>
          <a:p>
            <a:pPr lvl="0"/>
            <a:r>
              <a:rPr sz="1600" dirty="0"/>
              <a:t>BTC-Gold correlation ranges from </a:t>
            </a:r>
            <a:r>
              <a:rPr sz="1600" b="1" dirty="0"/>
              <a:t>-0.24 to 0.54</a:t>
            </a:r>
          </a:p>
          <a:p>
            <a:pPr lvl="0"/>
            <a:r>
              <a:rPr sz="1600" b="1" dirty="0"/>
              <a:t>This 0.95 range confirms regime-dependent behavior!</a:t>
            </a:r>
          </a:p>
          <a:p>
            <a:pPr lvl="0"/>
            <a:r>
              <a:rPr sz="1600" dirty="0"/>
              <a:t>Static correlations are misleading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2: Crypto-Commodity Relationships</a:t>
            </a:r>
          </a:p>
          <a:p>
            <a:pPr lvl="0"/>
            <a:r>
              <a:rPr sz="1600" dirty="0"/>
              <a:t>On average, correlations are </a:t>
            </a:r>
            <a:r>
              <a:rPr sz="1600" b="1" dirty="0"/>
              <a:t>low</a:t>
            </a:r>
            <a:r>
              <a:rPr sz="1600" dirty="0"/>
              <a:t> (diversification benefits)</a:t>
            </a:r>
          </a:p>
          <a:p>
            <a:pPr lvl="0"/>
            <a:r>
              <a:rPr sz="1600" b="1" dirty="0"/>
              <a:t>However, correlations increase during market stress</a:t>
            </a:r>
          </a:p>
          <a:p>
            <a:pPr lvl="0"/>
            <a:r>
              <a:rPr sz="1600" dirty="0"/>
              <a:t>This is the key insight for regime identification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3: Volatility Differences</a:t>
            </a:r>
          </a:p>
          <a:p>
            <a:pPr lvl="0"/>
            <a:r>
              <a:rPr sz="1600" dirty="0"/>
              <a:t>Cryptocurrencies are </a:t>
            </a:r>
            <a:r>
              <a:rPr sz="1600" b="1" dirty="0"/>
              <a:t>3-4x more volatile</a:t>
            </a:r>
            <a:r>
              <a:rPr sz="1600" dirty="0"/>
              <a:t> than commodities</a:t>
            </a:r>
          </a:p>
          <a:p>
            <a:pPr lvl="0"/>
            <a:r>
              <a:rPr sz="1600" dirty="0"/>
              <a:t>Bitcoin: 3.45% vs. Gold: 0.85%</a:t>
            </a:r>
          </a:p>
          <a:p>
            <a:pPr lvl="0"/>
            <a:r>
              <a:rPr sz="1600" dirty="0"/>
              <a:t>Higher risk-return profiles for digital assets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4: Stationarity</a:t>
            </a:r>
          </a:p>
          <a:p>
            <a:pPr lvl="0"/>
            <a:r>
              <a:rPr sz="1600" dirty="0"/>
              <a:t>All return series are </a:t>
            </a:r>
            <a:r>
              <a:rPr sz="1600" b="1" dirty="0"/>
              <a:t>stationary</a:t>
            </a:r>
            <a:r>
              <a:rPr sz="1600" dirty="0"/>
              <a:t> (ADF tests confirmed)</a:t>
            </a:r>
          </a:p>
          <a:p>
            <a:pPr lvl="0"/>
            <a:r>
              <a:rPr sz="1600" dirty="0"/>
              <a:t>Validates our correlation analysis methodology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5: Regime Patterns</a:t>
            </a:r>
          </a:p>
          <a:p>
            <a:pPr lvl="0"/>
            <a:r>
              <a:rPr sz="1600" dirty="0"/>
              <a:t>Distinct periods of high and low correlation</a:t>
            </a:r>
          </a:p>
          <a:p>
            <a:pPr lvl="0"/>
            <a:r>
              <a:rPr sz="1600" dirty="0"/>
              <a:t>These correspond to different market regimes</a:t>
            </a:r>
          </a:p>
          <a:p>
            <a:pPr lvl="0"/>
            <a:r>
              <a:rPr sz="1600" dirty="0"/>
              <a:t>Preliminary evidence that correlations can signal regime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300" b="1" dirty="0"/>
              <a:t>Technical Challenges</a:t>
            </a:r>
          </a:p>
          <a:p>
            <a:pPr marL="342900" lvl="0" indent="-342900">
              <a:buAutoNum type="arabicPeriod"/>
            </a:pPr>
            <a:r>
              <a:rPr sz="1300" b="1" dirty="0"/>
              <a:t>Trading Calendar Alignment</a:t>
            </a:r>
          </a:p>
          <a:p>
            <a:pPr lvl="1"/>
            <a:r>
              <a:rPr sz="1300" dirty="0"/>
              <a:t>Crypto trades 24/7, commodities trade weekdays only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Forward-fill weekend values</a:t>
            </a:r>
          </a:p>
          <a:p>
            <a:pPr marL="342900" lvl="0" indent="-342900">
              <a:buAutoNum type="arabicPeriod"/>
            </a:pPr>
            <a:r>
              <a:rPr sz="1300" b="1" dirty="0"/>
              <a:t>Data Availability</a:t>
            </a:r>
          </a:p>
          <a:p>
            <a:pPr lvl="1"/>
            <a:r>
              <a:rPr sz="1300" dirty="0"/>
              <a:t>Missing data due to holidays or feed issues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Forward-fill methods</a:t>
            </a:r>
          </a:p>
          <a:p>
            <a:pPr marL="342900" lvl="0" indent="-342900">
              <a:buAutoNum type="arabicPeriod"/>
            </a:pPr>
            <a:r>
              <a:rPr sz="1300" b="1" dirty="0"/>
              <a:t>API Rate Limiting</a:t>
            </a:r>
          </a:p>
          <a:p>
            <a:pPr lvl="1"/>
            <a:r>
              <a:rPr sz="1300" dirty="0"/>
              <a:t>Yahoo Finance API rate limits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Retry logic with delays</a:t>
            </a:r>
          </a:p>
          <a:p>
            <a:pPr marL="342900" lvl="0" indent="-342900">
              <a:buAutoNum type="arabicPeriod"/>
            </a:pPr>
            <a:r>
              <a:rPr sz="1300" b="1" dirty="0"/>
              <a:t>Rolling Window Edge Cases</a:t>
            </a:r>
          </a:p>
          <a:p>
            <a:pPr lvl="1"/>
            <a:r>
              <a:rPr sz="1300" dirty="0"/>
              <a:t>Can’t calculate correlations at start of series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Set initial values to NA, require minimum observations</a:t>
            </a:r>
          </a:p>
          <a:p>
            <a:pPr marL="342900" lvl="0" indent="-342900">
              <a:buAutoNum type="arabicPeriod"/>
            </a:pPr>
            <a:r>
              <a:rPr sz="1300" b="1" dirty="0"/>
              <a:t>Computational Efficiency</a:t>
            </a:r>
          </a:p>
          <a:p>
            <a:pPr lvl="1"/>
            <a:r>
              <a:rPr sz="1300" dirty="0"/>
              <a:t>Many calculations for multiple windows and pairs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Optimized rolling correlation functions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1. Advanced Regime Detection</a:t>
            </a:r>
          </a:p>
          <a:p>
            <a:pPr lvl="0"/>
            <a:r>
              <a:rPr sz="1600" dirty="0"/>
              <a:t>Change-point detection algorithms</a:t>
            </a:r>
          </a:p>
          <a:p>
            <a:pPr lvl="0"/>
            <a:r>
              <a:rPr sz="1600" dirty="0"/>
              <a:t>Clustering analysis (K-means, hierarchical)</a:t>
            </a:r>
          </a:p>
          <a:p>
            <a:pPr lvl="0"/>
            <a:r>
              <a:rPr sz="1600" dirty="0"/>
              <a:t>Machine learning approaches for regime classification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2. Event Study Analysis</a:t>
            </a:r>
          </a:p>
          <a:p>
            <a:pPr lvl="0"/>
            <a:r>
              <a:rPr sz="1600" dirty="0"/>
              <a:t>Detailed analysis around major events:</a:t>
            </a:r>
          </a:p>
          <a:p>
            <a:pPr lvl="1"/>
            <a:r>
              <a:rPr sz="1600" dirty="0"/>
              <a:t>COVID-19 market crash (March 2020)</a:t>
            </a:r>
          </a:p>
          <a:p>
            <a:pPr lvl="1"/>
            <a:r>
              <a:rPr sz="1600" dirty="0"/>
              <a:t>Federal Reserve policy announcements</a:t>
            </a:r>
          </a:p>
          <a:p>
            <a:pPr lvl="1"/>
            <a:r>
              <a:rPr sz="1600" dirty="0"/>
              <a:t>Major crypto events (FTX collapse, ETF approvals)</a:t>
            </a:r>
          </a:p>
          <a:p>
            <a:pPr lvl="1"/>
            <a:r>
              <a:rPr sz="1600" dirty="0"/>
              <a:t>Analyze correlation behavior using ±30 day event windows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Next Steps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3. Comparative Analysis</a:t>
            </a:r>
          </a:p>
          <a:p>
            <a:pPr lvl="0"/>
            <a:r>
              <a:rPr sz="2000" dirty="0"/>
              <a:t>Deep dive into differences between Bitcoin and Ethereum</a:t>
            </a:r>
          </a:p>
          <a:p>
            <a:pPr lvl="0"/>
            <a:r>
              <a:rPr sz="2000" dirty="0"/>
              <a:t>Statistical tests for significant differences</a:t>
            </a:r>
          </a:p>
          <a:p>
            <a:pPr lvl="0"/>
            <a:r>
              <a:rPr sz="2000" dirty="0"/>
              <a:t>Analysis of potential drivers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4. Advanced Statistical Testing</a:t>
            </a:r>
          </a:p>
          <a:p>
            <a:pPr lvl="0"/>
            <a:r>
              <a:rPr sz="2000" dirty="0"/>
              <a:t>Correlation stability tests across regimes</a:t>
            </a:r>
          </a:p>
          <a:p>
            <a:pPr lvl="0"/>
            <a:r>
              <a:rPr sz="2000" dirty="0"/>
              <a:t>Granger causality tests</a:t>
            </a:r>
          </a:p>
          <a:p>
            <a:pPr lvl="0"/>
            <a:r>
              <a:rPr sz="2000" dirty="0"/>
              <a:t>Cointegration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8094-D196-1B16-320F-D09C76961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8E9D-2B38-6579-039F-524BC4FCE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5. Threshold Analysis</a:t>
            </a:r>
          </a:p>
          <a:p>
            <a:pPr lvl="0"/>
            <a:r>
              <a:rPr lang="en-US" dirty="0"/>
              <a:t>Determine specific correlation thresholds</a:t>
            </a:r>
          </a:p>
          <a:p>
            <a:pPr lvl="0"/>
            <a:r>
              <a:rPr lang="en-US" dirty="0"/>
              <a:t>Use ROC analysis</a:t>
            </a:r>
          </a:p>
          <a:p>
            <a:pPr lvl="0"/>
            <a:r>
              <a:rPr lang="en-US" dirty="0" err="1"/>
              <a:t>Backtest</a:t>
            </a:r>
            <a:r>
              <a:rPr lang="en-US" dirty="0"/>
              <a:t> regime signals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6. Final Report</a:t>
            </a:r>
          </a:p>
          <a:p>
            <a:pPr lvl="0"/>
            <a:r>
              <a:rPr lang="en-US" dirty="0"/>
              <a:t>Complete analysis of all research questions</a:t>
            </a:r>
          </a:p>
          <a:p>
            <a:pPr lvl="0"/>
            <a:r>
              <a:rPr lang="en-US" dirty="0"/>
              <a:t>Policy and investment implications</a:t>
            </a:r>
          </a:p>
          <a:p>
            <a:pPr lvl="0"/>
            <a:r>
              <a:rPr lang="en-US" dirty="0"/>
              <a:t>Limitations and future research directions</a:t>
            </a:r>
          </a:p>
        </p:txBody>
      </p:sp>
    </p:spTree>
    <p:extLst>
      <p:ext uri="{BB962C8B-B14F-4D97-AF65-F5344CB8AC3E}">
        <p14:creationId xmlns:p14="http://schemas.microsoft.com/office/powerpoint/2010/main" val="1976315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Key Takeaways</a:t>
            </a:r>
          </a:p>
          <a:p>
            <a:pPr marL="342900" lvl="0" indent="-342900">
              <a:buAutoNum type="arabicPeriod"/>
            </a:pPr>
            <a:r>
              <a:rPr sz="2000" b="1" dirty="0"/>
              <a:t>Correlations are Dynamic:</a:t>
            </a:r>
            <a:r>
              <a:rPr sz="2000" dirty="0"/>
              <a:t> Not static - they vary significantly over time</a:t>
            </a:r>
          </a:p>
          <a:p>
            <a:pPr marL="342900" lvl="0" indent="-342900">
              <a:buAutoNum type="arabicPeriod"/>
            </a:pPr>
            <a:r>
              <a:rPr sz="2000" b="1" dirty="0"/>
              <a:t>Regime Indicators Work:</a:t>
            </a:r>
            <a:r>
              <a:rPr sz="2000" dirty="0"/>
              <a:t> Changes in correlations can signal market regime shifts</a:t>
            </a:r>
          </a:p>
          <a:p>
            <a:pPr marL="342900" lvl="0" indent="-342900">
              <a:buAutoNum type="arabicPeriod"/>
            </a:pPr>
            <a:r>
              <a:rPr sz="2000" b="1" dirty="0"/>
              <a:t>Crisis Behavior:</a:t>
            </a:r>
            <a:r>
              <a:rPr sz="2000" dirty="0"/>
              <a:t> Correlations spike during market stress, reducing diversification benefits</a:t>
            </a:r>
          </a:p>
          <a:p>
            <a:pPr marL="342900" lvl="0" indent="-342900">
              <a:buAutoNum type="arabicPeriod"/>
            </a:pPr>
            <a:r>
              <a:rPr sz="2000" b="1" dirty="0"/>
              <a:t>Crypto Evolution:</a:t>
            </a:r>
            <a:r>
              <a:rPr sz="2000" dirty="0"/>
              <a:t> Cryptocurrencies show both similarities and differences to traditional assets</a:t>
            </a:r>
          </a:p>
          <a:p>
            <a:pPr marL="342900" lvl="0" indent="-342900">
              <a:buAutoNum type="arabicPeriod"/>
            </a:pPr>
            <a:r>
              <a:rPr sz="2000" b="1" dirty="0"/>
              <a:t>Practical Value:</a:t>
            </a:r>
            <a:r>
              <a:rPr sz="2000" dirty="0"/>
              <a:t> This analysis can inform investment and risk management decisions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7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2587</Words>
  <Application>Microsoft Office PowerPoint</Application>
  <PresentationFormat>On-screen Show (16:9)</PresentationFormat>
  <Paragraphs>392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Courier</vt:lpstr>
      <vt:lpstr>Office Theme</vt:lpstr>
      <vt:lpstr>Cryptocurrency-Commodity Correlation as a Market Regime Indicator</vt:lpstr>
      <vt:lpstr>Title Slide</vt:lpstr>
      <vt:lpstr>Introduction</vt:lpstr>
      <vt:lpstr>Introduction (continued)</vt:lpstr>
      <vt:lpstr>Introduction (continued)</vt:lpstr>
      <vt:lpstr>Research Questions</vt:lpstr>
      <vt:lpstr>Dataset Description</vt:lpstr>
      <vt:lpstr>Dataset Description (continued)</vt:lpstr>
      <vt:lpstr>Dataset Description (continued)</vt:lpstr>
      <vt:lpstr>Summary Statistics</vt:lpstr>
      <vt:lpstr>Summary Statistics - Key Observations</vt:lpstr>
      <vt:lpstr>Correlation Analysis</vt:lpstr>
      <vt:lpstr>Correlation Analysis - Key Relationships</vt:lpstr>
      <vt:lpstr>Figure 1: Normalized Price Time Series</vt:lpstr>
      <vt:lpstr>Figure 2: Rolling BTC-Gold Correlation</vt:lpstr>
      <vt:lpstr>Figure 3: Rolling BTC-Oil Correlation</vt:lpstr>
      <vt:lpstr>Figure 4: Return Distributions</vt:lpstr>
      <vt:lpstr>Figure 5: Correlation Evolution Heatmap</vt:lpstr>
      <vt:lpstr>Methods Implemented</vt:lpstr>
      <vt:lpstr>Methods Implemented (continued)</vt:lpstr>
      <vt:lpstr>Key Findings</vt:lpstr>
      <vt:lpstr>Key Findings (continued)</vt:lpstr>
      <vt:lpstr>Issues Encountered</vt:lpstr>
      <vt:lpstr>Next Steps</vt:lpstr>
      <vt:lpstr>Next Steps (continued)</vt:lpstr>
      <vt:lpstr>Next Steps (continued)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Cryptocurrency-Commodity Correlation as a Market Regime Indicator</dc:title>
  <dc:creator>Group 7: Jhanvi Damwani, Saketh Kanchi, Ajith Shetty</dc:creator>
  <cp:keywords/>
  <cp:lastModifiedBy>Saketh Kanchi</cp:lastModifiedBy>
  <cp:revision>32</cp:revision>
  <dcterms:created xsi:type="dcterms:W3CDTF">2025-11-21T03:18:02Z</dcterms:created>
  <dcterms:modified xsi:type="dcterms:W3CDTF">2025-11-21T03:41:13Z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  <property fmtid="{D5CDD505-2E9C-101B-9397-08002B2CF9AE}" pid="3" name="output">
    <vt:lpwstr/>
  </property>
  <property fmtid="{D5CDD505-2E9C-101B-9397-08002B2CF9AE}" pid="4" name="subtitle">
    <vt:lpwstr>Progress Report Presentation</vt:lpwstr>
  </property>
</Properties>
</file>